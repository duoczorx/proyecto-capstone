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League Spartan" charset="1" panose="00000800000000000000"/>
      <p:regular r:id="rId18"/>
    </p:embeddedFont>
    <p:embeddedFont>
      <p:font typeface="Roboto Bold" charset="1" panose="02000000000000000000"/>
      <p:regular r:id="rId19"/>
    </p:embeddedFont>
    <p:embeddedFont>
      <p:font typeface="Poppins" charset="1" panose="00000500000000000000"/>
      <p:regular r:id="rId20"/>
    </p:embeddedFont>
    <p:embeddedFont>
      <p:font typeface="Roboto" charset="1" panose="02000000000000000000"/>
      <p:regular r:id="rId21"/>
    </p:embeddedFont>
    <p:embeddedFont>
      <p:font typeface="Archivo Black" charset="1" panose="020B0A03020202020B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88379" y="4279967"/>
            <a:ext cx="12111243" cy="2885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72"/>
              </a:lnSpc>
            </a:pPr>
            <a:r>
              <a:rPr lang="en-US" b="true" sz="8265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CHATBOT: ATENCIÓN AL CLIENTE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130300" y="4057750"/>
            <a:ext cx="3086100" cy="2171499"/>
            <a:chOff x="0" y="0"/>
            <a:chExt cx="812800" cy="571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467343" y="4057750"/>
            <a:ext cx="3086100" cy="2171499"/>
            <a:chOff x="0" y="0"/>
            <a:chExt cx="812800" cy="5719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12750" y="235950"/>
            <a:ext cx="4925646" cy="1102113"/>
          </a:xfrm>
          <a:custGeom>
            <a:avLst/>
            <a:gdLst/>
            <a:ahLst/>
            <a:cxnLst/>
            <a:rect r="r" b="b" t="t" l="l"/>
            <a:pathLst>
              <a:path h="1102113" w="4925646">
                <a:moveTo>
                  <a:pt x="0" y="0"/>
                </a:moveTo>
                <a:lnTo>
                  <a:pt x="4925646" y="0"/>
                </a:lnTo>
                <a:lnTo>
                  <a:pt x="4925646" y="1102113"/>
                </a:lnTo>
                <a:lnTo>
                  <a:pt x="0" y="11021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323004" y="3528848"/>
            <a:ext cx="5641992" cy="91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4"/>
              </a:lnSpc>
            </a:pPr>
            <a:r>
              <a:rPr lang="en-US" b="true" sz="5303">
                <a:solidFill>
                  <a:srgbClr val="303642"/>
                </a:solidFill>
                <a:latin typeface="Roboto Bold"/>
                <a:ea typeface="Roboto Bold"/>
                <a:cs typeface="Roboto Bold"/>
                <a:sym typeface="Roboto Bold"/>
              </a:rPr>
              <a:t>PROYECTO APT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076432"/>
            <a:ext cx="2907448" cy="1181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7"/>
              </a:lnSpc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Integrantes: </a:t>
            </a:r>
          </a:p>
          <a:p>
            <a:pPr algn="l" marL="479248" indent="-239624" lvl="1">
              <a:lnSpc>
                <a:spcPts val="3107"/>
              </a:lnSpc>
              <a:buFont typeface="Arial"/>
              <a:buChar char="•"/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Vicente Baranda</a:t>
            </a:r>
          </a:p>
          <a:p>
            <a:pPr algn="l" marL="479248" indent="-239624" lvl="1">
              <a:lnSpc>
                <a:spcPts val="3107"/>
              </a:lnSpc>
              <a:spcBef>
                <a:spcPct val="0"/>
              </a:spcBef>
              <a:buFont typeface="Arial"/>
              <a:buChar char="•"/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Andrés Gatica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02044" y="8857482"/>
            <a:ext cx="6683912" cy="400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20 / 11 / 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6792707" cy="10287000"/>
            <a:chOff x="0" y="0"/>
            <a:chExt cx="178902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8902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89026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446818" y="8630505"/>
            <a:ext cx="897167" cy="2183545"/>
            <a:chOff x="0" y="0"/>
            <a:chExt cx="236291" cy="575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7509504" y="2224789"/>
            <a:ext cx="4857773" cy="6528106"/>
            <a:chOff x="0" y="0"/>
            <a:chExt cx="3663950" cy="49237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1750" y="31750"/>
              <a:ext cx="3600450" cy="4859020"/>
            </a:xfrm>
            <a:custGeom>
              <a:avLst/>
              <a:gdLst/>
              <a:ahLst/>
              <a:cxnLst/>
              <a:rect r="r" b="b" t="t" l="l"/>
              <a:pathLst>
                <a:path h="4859020" w="360045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3"/>
              <a:stretch>
                <a:fillRect l="-18140" t="0" r="-1814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62687" cy="4923790"/>
            </a:xfrm>
            <a:custGeom>
              <a:avLst/>
              <a:gdLst/>
              <a:ahLst/>
              <a:cxnLst/>
              <a:rect r="r" b="b" t="t" l="l"/>
              <a:pathLst>
                <a:path h="4923790" w="3662687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2862577" y="2215264"/>
            <a:ext cx="4857773" cy="6528106"/>
            <a:chOff x="0" y="0"/>
            <a:chExt cx="3663950" cy="49237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31750" y="31750"/>
              <a:ext cx="3600450" cy="4859020"/>
            </a:xfrm>
            <a:custGeom>
              <a:avLst/>
              <a:gdLst/>
              <a:ahLst/>
              <a:cxnLst/>
              <a:rect r="r" b="b" t="t" l="l"/>
              <a:pathLst>
                <a:path h="4859020" w="360045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4"/>
              <a:stretch>
                <a:fillRect l="-979" t="0" r="-979" b="-43222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62687" cy="4923790"/>
            </a:xfrm>
            <a:custGeom>
              <a:avLst/>
              <a:gdLst/>
              <a:ahLst/>
              <a:cxnLst/>
              <a:rect r="r" b="b" t="t" l="l"/>
              <a:pathLst>
                <a:path h="4923790" w="3662687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328767" y="1666699"/>
            <a:ext cx="6463941" cy="79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1"/>
              </a:lnSpc>
            </a:pPr>
            <a:r>
              <a:rPr lang="en-US" sz="47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LA VULCA BOULDER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9411" y="942975"/>
            <a:ext cx="4842085" cy="77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INTRODUCCIÓN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82823" y="3385429"/>
            <a:ext cx="5861162" cy="74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Gimnasio familiar, prestra servicios como escalada libre, clases grupales y cafeteria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9411" y="5426930"/>
            <a:ext cx="5634574" cy="111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 es el unico negocio de los dueños, por lo que falta tiempo para responder las redes sociales.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09411" y="6818010"/>
            <a:ext cx="5634574" cy="14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traves de las redes llegan dudas sobre los servicios que ofrecen, tambien es el canal que usa la gente para demostrar interes por las clases grupales.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24"/>
            <a:ext cx="6379957" cy="10287000"/>
            <a:chOff x="0" y="0"/>
            <a:chExt cx="1680318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80318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80318">
                  <a:moveTo>
                    <a:pt x="0" y="0"/>
                  </a:moveTo>
                  <a:lnTo>
                    <a:pt x="1680318" y="0"/>
                  </a:lnTo>
                  <a:lnTo>
                    <a:pt x="168031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680318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867132" y="1607677"/>
            <a:ext cx="1868266" cy="186826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867132" y="4211215"/>
            <a:ext cx="1868266" cy="186826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867132" y="6812906"/>
            <a:ext cx="1868266" cy="186826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487034" y="1732077"/>
            <a:ext cx="1601933" cy="6466659"/>
            <a:chOff x="0" y="0"/>
            <a:chExt cx="421908" cy="170315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-332329" y="3339336"/>
            <a:ext cx="5508835" cy="77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RELEVANCIA DEL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3126" y="4169620"/>
            <a:ext cx="4243380" cy="79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591"/>
              </a:lnSpc>
            </a:pPr>
            <a:r>
              <a:rPr lang="en-US" b="true" sz="47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PROYECTO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981847" y="1902396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81847" y="4496409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b="true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981847" y="7098656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927222" y="2085113"/>
            <a:ext cx="8108504" cy="84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Automatización de tareas en empresas pequeñas.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Impacto directo en eficiencia operativa.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927222" y="4897750"/>
            <a:ext cx="8742950" cy="42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Uso de IA + Automatización como tendencia profesional.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927222" y="7082188"/>
            <a:ext cx="8742950" cy="126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Cómo este proyecto aporta valor real al negocio.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Cómo es replicable en otras operaciones de escala pequeña.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76618" y="1791504"/>
            <a:ext cx="6756386" cy="96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b="true" sz="567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GENERAL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18918" y="1116794"/>
            <a:ext cx="5871786" cy="624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4"/>
              </a:lnSpc>
            </a:pPr>
            <a:r>
              <a:rPr lang="en-US" sz="3639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OBJETIVOS: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77695" y="2844487"/>
            <a:ext cx="9132610" cy="400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Automatizar la atención al cliente mediante chatbot integrado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576857" y="6422755"/>
            <a:ext cx="19263335" cy="1604683"/>
            <a:chOff x="0" y="0"/>
            <a:chExt cx="5073471" cy="4226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73471" cy="422633"/>
            </a:xfrm>
            <a:custGeom>
              <a:avLst/>
              <a:gdLst/>
              <a:ahLst/>
              <a:cxnLst/>
              <a:rect r="r" b="b" t="t" l="l"/>
              <a:pathLst>
                <a:path h="422633" w="5073471">
                  <a:moveTo>
                    <a:pt x="20497" y="0"/>
                  </a:moveTo>
                  <a:lnTo>
                    <a:pt x="5052974" y="0"/>
                  </a:lnTo>
                  <a:cubicBezTo>
                    <a:pt x="5058410" y="0"/>
                    <a:pt x="5063623" y="2159"/>
                    <a:pt x="5067467" y="6003"/>
                  </a:cubicBezTo>
                  <a:cubicBezTo>
                    <a:pt x="5071311" y="9847"/>
                    <a:pt x="5073471" y="15061"/>
                    <a:pt x="5073471" y="20497"/>
                  </a:cubicBezTo>
                  <a:lnTo>
                    <a:pt x="5073471" y="402136"/>
                  </a:lnTo>
                  <a:cubicBezTo>
                    <a:pt x="5073471" y="407572"/>
                    <a:pt x="5071311" y="412785"/>
                    <a:pt x="5067467" y="416629"/>
                  </a:cubicBezTo>
                  <a:cubicBezTo>
                    <a:pt x="5063623" y="420473"/>
                    <a:pt x="5058410" y="422633"/>
                    <a:pt x="5052974" y="422633"/>
                  </a:cubicBezTo>
                  <a:lnTo>
                    <a:pt x="20497" y="422633"/>
                  </a:lnTo>
                  <a:cubicBezTo>
                    <a:pt x="15061" y="422633"/>
                    <a:pt x="9847" y="420473"/>
                    <a:pt x="6003" y="416629"/>
                  </a:cubicBezTo>
                  <a:cubicBezTo>
                    <a:pt x="2159" y="412785"/>
                    <a:pt x="0" y="407572"/>
                    <a:pt x="0" y="402136"/>
                  </a:cubicBezTo>
                  <a:lnTo>
                    <a:pt x="0" y="20497"/>
                  </a:lnTo>
                  <a:cubicBezTo>
                    <a:pt x="0" y="15061"/>
                    <a:pt x="2159" y="9847"/>
                    <a:pt x="6003" y="6003"/>
                  </a:cubicBezTo>
                  <a:cubicBezTo>
                    <a:pt x="9847" y="2159"/>
                    <a:pt x="15061" y="0"/>
                    <a:pt x="2049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073471" cy="4702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21164" y="6600825"/>
            <a:ext cx="4882054" cy="1181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9248" indent="-239624" lvl="1">
              <a:lnSpc>
                <a:spcPts val="3107"/>
              </a:lnSpc>
              <a:buFont typeface="Arial"/>
              <a:buChar char="•"/>
            </a:pPr>
            <a:r>
              <a:rPr lang="en-US" sz="22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Levantamiento del proceso actual</a:t>
            </a:r>
          </a:p>
          <a:p>
            <a:pPr algn="l" marL="479248" indent="-239624" lvl="1">
              <a:lnSpc>
                <a:spcPts val="3107"/>
              </a:lnSpc>
              <a:buFont typeface="Arial"/>
              <a:buChar char="•"/>
            </a:pPr>
            <a:r>
              <a:rPr lang="en-US" sz="22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Definición de requisitos y KPIs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77956" y="6600825"/>
            <a:ext cx="5229489" cy="1181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9248" indent="-239624" lvl="1">
              <a:lnSpc>
                <a:spcPts val="3107"/>
              </a:lnSpc>
              <a:buFont typeface="Arial"/>
              <a:buChar char="•"/>
            </a:pPr>
            <a:r>
              <a:rPr lang="en-US" sz="22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Diseño del chatbot</a:t>
            </a:r>
          </a:p>
          <a:p>
            <a:pPr algn="l" marL="479248" indent="-239624" lvl="1">
              <a:lnSpc>
                <a:spcPts val="3107"/>
              </a:lnSpc>
              <a:buFont typeface="Arial"/>
              <a:buChar char="•"/>
            </a:pPr>
            <a:r>
              <a:rPr lang="en-US" sz="22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Integración con Whatsapp, Google Sheets, Google Docs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78920" y="6600825"/>
            <a:ext cx="3809538" cy="791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9248" indent="-239624" lvl="1">
              <a:lnSpc>
                <a:spcPts val="3107"/>
              </a:lnSpc>
              <a:buFont typeface="Arial"/>
              <a:buChar char="•"/>
            </a:pPr>
            <a:r>
              <a:rPr lang="en-US" sz="22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Pruebas y validación</a:t>
            </a:r>
          </a:p>
          <a:p>
            <a:pPr algn="l" marL="479248" indent="-239624" lvl="1">
              <a:lnSpc>
                <a:spcPts val="3107"/>
              </a:lnSpc>
              <a:buFont typeface="Arial"/>
              <a:buChar char="•"/>
            </a:pPr>
            <a:r>
              <a:rPr lang="en-US" sz="22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Medición de imapcto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65807" y="4176241"/>
            <a:ext cx="6756386" cy="96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b="true" sz="567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ESPECÍFICOS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7175" y="4502250"/>
            <a:ext cx="18802350" cy="2006600"/>
            <a:chOff x="0" y="0"/>
            <a:chExt cx="4952059" cy="5284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52059" cy="528487"/>
            </a:xfrm>
            <a:custGeom>
              <a:avLst/>
              <a:gdLst/>
              <a:ahLst/>
              <a:cxnLst/>
              <a:rect r="r" b="b" t="t" l="l"/>
              <a:pathLst>
                <a:path h="528487" w="4952059">
                  <a:moveTo>
                    <a:pt x="20999" y="0"/>
                  </a:moveTo>
                  <a:lnTo>
                    <a:pt x="4931060" y="0"/>
                  </a:lnTo>
                  <a:cubicBezTo>
                    <a:pt x="4936629" y="0"/>
                    <a:pt x="4941970" y="2212"/>
                    <a:pt x="4945909" y="6151"/>
                  </a:cubicBezTo>
                  <a:cubicBezTo>
                    <a:pt x="4949847" y="10089"/>
                    <a:pt x="4952059" y="15430"/>
                    <a:pt x="4952059" y="20999"/>
                  </a:cubicBezTo>
                  <a:lnTo>
                    <a:pt x="4952059" y="507488"/>
                  </a:lnTo>
                  <a:cubicBezTo>
                    <a:pt x="4952059" y="519086"/>
                    <a:pt x="4942658" y="528487"/>
                    <a:pt x="4931060" y="528487"/>
                  </a:cubicBezTo>
                  <a:lnTo>
                    <a:pt x="20999" y="528487"/>
                  </a:lnTo>
                  <a:cubicBezTo>
                    <a:pt x="15430" y="528487"/>
                    <a:pt x="10089" y="526275"/>
                    <a:pt x="6151" y="522337"/>
                  </a:cubicBezTo>
                  <a:cubicBezTo>
                    <a:pt x="2212" y="518399"/>
                    <a:pt x="0" y="513057"/>
                    <a:pt x="0" y="507488"/>
                  </a:cubicBezTo>
                  <a:lnTo>
                    <a:pt x="0" y="20999"/>
                  </a:lnTo>
                  <a:cubicBezTo>
                    <a:pt x="0" y="15430"/>
                    <a:pt x="2212" y="10089"/>
                    <a:pt x="6151" y="6151"/>
                  </a:cubicBezTo>
                  <a:cubicBezTo>
                    <a:pt x="10089" y="2212"/>
                    <a:pt x="15430" y="0"/>
                    <a:pt x="2099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52059" cy="576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765807" y="1884385"/>
            <a:ext cx="6756386" cy="96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METODOLOGÍA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71087" y="2794493"/>
            <a:ext cx="8145827" cy="400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Ágil: Scrum simplificado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972747"/>
            <a:ext cx="4789577" cy="96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b="true" sz="567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REUNIONES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92606" y="4972747"/>
            <a:ext cx="5702788" cy="96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ITERACIONES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63214" y="4547894"/>
            <a:ext cx="5514658" cy="196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b="true" sz="567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CAMBIOS DE ESTRATEGIA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9685" y="7356575"/>
            <a:ext cx="4247608" cy="118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Entender los procesos y tareas que estas automatizando es clave.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20196" y="7356575"/>
            <a:ext cx="4247608" cy="118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Validar el progreso te permite desarrollar la solución que espera el cliente.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96739" y="7356575"/>
            <a:ext cx="4247608" cy="1572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Tener la flexibilidad para hacer cambios drasticos en la solución, por ejemplo cambiar de plataforma.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2097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219111" y="1301284"/>
            <a:ext cx="11849778" cy="8522495"/>
          </a:xfrm>
          <a:custGeom>
            <a:avLst/>
            <a:gdLst/>
            <a:ahLst/>
            <a:cxnLst/>
            <a:rect r="r" b="b" t="t" l="l"/>
            <a:pathLst>
              <a:path h="8522495" w="11849778">
                <a:moveTo>
                  <a:pt x="0" y="0"/>
                </a:moveTo>
                <a:lnTo>
                  <a:pt x="11849778" y="0"/>
                </a:lnTo>
                <a:lnTo>
                  <a:pt x="11849778" y="8522495"/>
                </a:lnTo>
                <a:lnTo>
                  <a:pt x="0" y="85224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349" r="0" b="-134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3214" y="1019027"/>
            <a:ext cx="4243380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b="true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AS - 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3214" y="252243"/>
            <a:ext cx="6987117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ANÁLISIS DE PROCESO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2097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24305" y="2125087"/>
            <a:ext cx="17239390" cy="6270828"/>
          </a:xfrm>
          <a:custGeom>
            <a:avLst/>
            <a:gdLst/>
            <a:ahLst/>
            <a:cxnLst/>
            <a:rect r="r" b="b" t="t" l="l"/>
            <a:pathLst>
              <a:path h="6270828" w="17239390">
                <a:moveTo>
                  <a:pt x="0" y="0"/>
                </a:moveTo>
                <a:lnTo>
                  <a:pt x="17239390" y="0"/>
                </a:lnTo>
                <a:lnTo>
                  <a:pt x="17239390" y="6270828"/>
                </a:lnTo>
                <a:lnTo>
                  <a:pt x="0" y="6270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3214" y="1019027"/>
            <a:ext cx="4243380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b="true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 - BE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3214" y="252243"/>
            <a:ext cx="6987117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PROCESO PROPUESTO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30719" y="3826960"/>
            <a:ext cx="14426561" cy="4766700"/>
            <a:chOff x="0" y="0"/>
            <a:chExt cx="19235415" cy="6355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1590961"/>
              <a:ext cx="2705507" cy="2705507"/>
            </a:xfrm>
            <a:custGeom>
              <a:avLst/>
              <a:gdLst/>
              <a:ahLst/>
              <a:cxnLst/>
              <a:rect r="r" b="b" t="t" l="l"/>
              <a:pathLst>
                <a:path h="2705507" w="2705507">
                  <a:moveTo>
                    <a:pt x="0" y="0"/>
                  </a:moveTo>
                  <a:lnTo>
                    <a:pt x="2705507" y="0"/>
                  </a:lnTo>
                  <a:lnTo>
                    <a:pt x="2705507" y="2705507"/>
                  </a:lnTo>
                  <a:lnTo>
                    <a:pt x="0" y="2705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5" id="5"/>
            <p:cNvGrpSpPr/>
            <p:nvPr/>
          </p:nvGrpSpPr>
          <p:grpSpPr>
            <a:xfrm rot="-10800000">
              <a:off x="3187018" y="2403452"/>
              <a:ext cx="1312067" cy="1080525"/>
              <a:chOff x="0" y="0"/>
              <a:chExt cx="647700" cy="5334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47700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647700">
                    <a:moveTo>
                      <a:pt x="239386" y="166418"/>
                    </a:moveTo>
                    <a:lnTo>
                      <a:pt x="647700" y="166418"/>
                    </a:lnTo>
                    <a:lnTo>
                      <a:pt x="647700" y="366942"/>
                    </a:lnTo>
                    <a:lnTo>
                      <a:pt x="239373" y="366942"/>
                    </a:lnTo>
                    <a:lnTo>
                      <a:pt x="302255" y="533400"/>
                    </a:lnTo>
                    <a:lnTo>
                      <a:pt x="0" y="266700"/>
                    </a:lnTo>
                    <a:lnTo>
                      <a:pt x="302255" y="0"/>
                    </a:lnTo>
                    <a:lnTo>
                      <a:pt x="239386" y="166418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120650" y="117475"/>
                <a:ext cx="527050" cy="250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4981685" y="2380712"/>
              <a:ext cx="3511356" cy="1126004"/>
            </a:xfrm>
            <a:custGeom>
              <a:avLst/>
              <a:gdLst/>
              <a:ahLst/>
              <a:cxnLst/>
              <a:rect r="r" b="b" t="t" l="l"/>
              <a:pathLst>
                <a:path h="1126004" w="3511356">
                  <a:moveTo>
                    <a:pt x="0" y="0"/>
                  </a:moveTo>
                  <a:lnTo>
                    <a:pt x="3511355" y="0"/>
                  </a:lnTo>
                  <a:lnTo>
                    <a:pt x="3511355" y="1126005"/>
                  </a:lnTo>
                  <a:lnTo>
                    <a:pt x="0" y="1126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AutoShape 9" id="9"/>
            <p:cNvSpPr/>
            <p:nvPr/>
          </p:nvSpPr>
          <p:spPr>
            <a:xfrm flipV="true">
              <a:off x="8847696" y="2969115"/>
              <a:ext cx="1465932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ysDot"/>
              <a:headEnd type="triangle" len="med" w="lg"/>
              <a:tailEnd type="triangle" len="med" w="lg"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0184216" y="1737208"/>
              <a:ext cx="2463813" cy="2463813"/>
            </a:xfrm>
            <a:custGeom>
              <a:avLst/>
              <a:gdLst/>
              <a:ahLst/>
              <a:cxnLst/>
              <a:rect r="r" b="b" t="t" l="l"/>
              <a:pathLst>
                <a:path h="2463813" w="2463813">
                  <a:moveTo>
                    <a:pt x="0" y="0"/>
                  </a:moveTo>
                  <a:lnTo>
                    <a:pt x="2463813" y="0"/>
                  </a:lnTo>
                  <a:lnTo>
                    <a:pt x="2463813" y="2463813"/>
                  </a:lnTo>
                  <a:lnTo>
                    <a:pt x="0" y="24638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AutoShape 11" id="11"/>
            <p:cNvSpPr/>
            <p:nvPr/>
          </p:nvSpPr>
          <p:spPr>
            <a:xfrm flipV="true">
              <a:off x="7396651" y="1124215"/>
              <a:ext cx="827343" cy="1225986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ysDot"/>
              <a:headEnd type="triangle" len="med" w="lg"/>
              <a:tailEnd type="triangle" len="med" w="lg"/>
            </a:ln>
          </p:spPr>
        </p:sp>
        <p:sp>
          <p:nvSpPr>
            <p:cNvPr name="AutoShape 12" id="12"/>
            <p:cNvSpPr/>
            <p:nvPr/>
          </p:nvSpPr>
          <p:spPr>
            <a:xfrm flipH="true" flipV="true">
              <a:off x="7440512" y="3675932"/>
              <a:ext cx="804537" cy="1241071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ysDot"/>
              <a:headEnd type="triangle" len="med" w="lg"/>
              <a:tailEnd type="triangle" len="med" w="lg"/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8493040" y="0"/>
              <a:ext cx="1396333" cy="1396333"/>
            </a:xfrm>
            <a:custGeom>
              <a:avLst/>
              <a:gdLst/>
              <a:ahLst/>
              <a:cxnLst/>
              <a:rect r="r" b="b" t="t" l="l"/>
              <a:pathLst>
                <a:path h="1396333" w="1396333">
                  <a:moveTo>
                    <a:pt x="0" y="0"/>
                  </a:moveTo>
                  <a:lnTo>
                    <a:pt x="1396333" y="0"/>
                  </a:lnTo>
                  <a:lnTo>
                    <a:pt x="1396333" y="1396333"/>
                  </a:lnTo>
                  <a:lnTo>
                    <a:pt x="0" y="1396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7919533" y="4090917"/>
              <a:ext cx="2264683" cy="2264683"/>
            </a:xfrm>
            <a:custGeom>
              <a:avLst/>
              <a:gdLst/>
              <a:ahLst/>
              <a:cxnLst/>
              <a:rect r="r" b="b" t="t" l="l"/>
              <a:pathLst>
                <a:path h="2264683" w="2264683">
                  <a:moveTo>
                    <a:pt x="0" y="0"/>
                  </a:moveTo>
                  <a:lnTo>
                    <a:pt x="2264683" y="0"/>
                  </a:lnTo>
                  <a:lnTo>
                    <a:pt x="2264683" y="2264683"/>
                  </a:lnTo>
                  <a:lnTo>
                    <a:pt x="0" y="22646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grpSp>
          <p:nvGrpSpPr>
            <p:cNvPr name="Group 15" id="15"/>
            <p:cNvGrpSpPr/>
            <p:nvPr/>
          </p:nvGrpSpPr>
          <p:grpSpPr>
            <a:xfrm rot="0">
              <a:off x="12320329" y="2257651"/>
              <a:ext cx="4666264" cy="1422926"/>
              <a:chOff x="0" y="0"/>
              <a:chExt cx="1869859" cy="570193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869859" cy="570193"/>
              </a:xfrm>
              <a:custGeom>
                <a:avLst/>
                <a:gdLst/>
                <a:ahLst/>
                <a:cxnLst/>
                <a:rect r="r" b="b" t="t" l="l"/>
                <a:pathLst>
                  <a:path h="570193" w="1869859">
                    <a:moveTo>
                      <a:pt x="1869859" y="285106"/>
                    </a:moveTo>
                    <a:lnTo>
                      <a:pt x="1609892" y="570193"/>
                    </a:lnTo>
                    <a:lnTo>
                      <a:pt x="1625651" y="445446"/>
                    </a:lnTo>
                    <a:lnTo>
                      <a:pt x="244208" y="445446"/>
                    </a:lnTo>
                    <a:lnTo>
                      <a:pt x="259966" y="570193"/>
                    </a:lnTo>
                    <a:lnTo>
                      <a:pt x="0" y="285106"/>
                    </a:lnTo>
                    <a:lnTo>
                      <a:pt x="259966" y="0"/>
                    </a:lnTo>
                    <a:lnTo>
                      <a:pt x="244196" y="124785"/>
                    </a:lnTo>
                    <a:lnTo>
                      <a:pt x="1625663" y="124785"/>
                    </a:lnTo>
                    <a:lnTo>
                      <a:pt x="1609892" y="0"/>
                    </a:lnTo>
                    <a:lnTo>
                      <a:pt x="1869859" y="28510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14300" y="79375"/>
                <a:ext cx="1641259" cy="3638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FFFFFF"/>
                    </a:solidFill>
                    <a:latin typeface="Archivo Black"/>
                    <a:ea typeface="Archivo Black"/>
                    <a:cs typeface="Archivo Black"/>
                    <a:sym typeface="Archivo Black"/>
                  </a:rPr>
                  <a:t>Chat con cliente</a:t>
                </a: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17583493" y="2088904"/>
              <a:ext cx="1651922" cy="1709621"/>
            </a:xfrm>
            <a:custGeom>
              <a:avLst/>
              <a:gdLst/>
              <a:ahLst/>
              <a:cxnLst/>
              <a:rect r="r" b="b" t="t" l="l"/>
              <a:pathLst>
                <a:path h="1709621" w="1651922">
                  <a:moveTo>
                    <a:pt x="0" y="0"/>
                  </a:moveTo>
                  <a:lnTo>
                    <a:pt x="1651922" y="0"/>
                  </a:lnTo>
                  <a:lnTo>
                    <a:pt x="1651922" y="1709621"/>
                  </a:lnTo>
                  <a:lnTo>
                    <a:pt x="0" y="1709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73904" y="499995"/>
            <a:ext cx="6624576" cy="1697434"/>
            <a:chOff x="0" y="0"/>
            <a:chExt cx="8832768" cy="2263246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1080950"/>
              <a:ext cx="5657840" cy="11822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431"/>
                </a:lnSpc>
              </a:pPr>
              <a:r>
                <a:rPr lang="en-US" sz="5308">
                  <a:solidFill>
                    <a:srgbClr val="004AAD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SOLUCIÓN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-114300"/>
              <a:ext cx="8832768" cy="11590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212"/>
                </a:lnSpc>
              </a:pPr>
              <a:r>
                <a:rPr lang="en-US" sz="5151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ARQUITECTURA DE LA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64425"/>
            <a:ext cx="4998672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DESARROLLO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46991" y="3317618"/>
            <a:ext cx="3463917" cy="95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6"/>
              </a:lnSpc>
            </a:pPr>
            <a:r>
              <a:rPr lang="en-US" sz="27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Etapa 1: </a:t>
            </a:r>
          </a:p>
          <a:p>
            <a:pPr algn="ctr">
              <a:lnSpc>
                <a:spcPts val="3796"/>
              </a:lnSpc>
              <a:spcBef>
                <a:spcPct val="0"/>
              </a:spcBef>
            </a:pPr>
            <a:r>
              <a:rPr lang="en-US" sz="27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Análisis y definición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53125" y="3317618"/>
            <a:ext cx="4581751" cy="95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6"/>
              </a:lnSpc>
            </a:pPr>
            <a:r>
              <a:rPr lang="en-US" sz="27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Etapa 2: </a:t>
            </a:r>
          </a:p>
          <a:p>
            <a:pPr algn="ctr">
              <a:lnSpc>
                <a:spcPts val="3796"/>
              </a:lnSpc>
              <a:spcBef>
                <a:spcPct val="0"/>
              </a:spcBef>
            </a:pPr>
            <a:r>
              <a:rPr lang="en-US" sz="27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Diseño técnico y prototipo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49455" y="3317618"/>
            <a:ext cx="4309845" cy="95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6"/>
              </a:lnSpc>
            </a:pPr>
            <a:r>
              <a:rPr lang="en-US" sz="27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Etapa 3: </a:t>
            </a:r>
          </a:p>
          <a:p>
            <a:pPr algn="ctr">
              <a:lnSpc>
                <a:spcPts val="3796"/>
              </a:lnSpc>
              <a:spcBef>
                <a:spcPct val="0"/>
              </a:spcBef>
            </a:pPr>
            <a:r>
              <a:rPr lang="en-US" sz="27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Ajustes finales y pruebas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58400" y="4821252"/>
            <a:ext cx="4841100" cy="5922848"/>
            <a:chOff x="0" y="0"/>
            <a:chExt cx="1275022" cy="155992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75022" cy="1559927"/>
            </a:xfrm>
            <a:custGeom>
              <a:avLst/>
              <a:gdLst/>
              <a:ahLst/>
              <a:cxnLst/>
              <a:rect r="r" b="b" t="t" l="l"/>
              <a:pathLst>
                <a:path h="1559927" w="1275022">
                  <a:moveTo>
                    <a:pt x="81560" y="0"/>
                  </a:moveTo>
                  <a:lnTo>
                    <a:pt x="1193463" y="0"/>
                  </a:lnTo>
                  <a:cubicBezTo>
                    <a:pt x="1215094" y="0"/>
                    <a:pt x="1235839" y="8593"/>
                    <a:pt x="1251134" y="23888"/>
                  </a:cubicBezTo>
                  <a:cubicBezTo>
                    <a:pt x="1266429" y="39184"/>
                    <a:pt x="1275022" y="59929"/>
                    <a:pt x="1275022" y="81560"/>
                  </a:cubicBezTo>
                  <a:lnTo>
                    <a:pt x="1275022" y="1478368"/>
                  </a:lnTo>
                  <a:cubicBezTo>
                    <a:pt x="1275022" y="1499998"/>
                    <a:pt x="1266429" y="1520743"/>
                    <a:pt x="1251134" y="1536039"/>
                  </a:cubicBezTo>
                  <a:cubicBezTo>
                    <a:pt x="1235839" y="1551334"/>
                    <a:pt x="1215094" y="1559927"/>
                    <a:pt x="1193463" y="1559927"/>
                  </a:cubicBezTo>
                  <a:lnTo>
                    <a:pt x="81560" y="1559927"/>
                  </a:lnTo>
                  <a:cubicBezTo>
                    <a:pt x="59929" y="1559927"/>
                    <a:pt x="39184" y="1551334"/>
                    <a:pt x="23888" y="1536039"/>
                  </a:cubicBezTo>
                  <a:cubicBezTo>
                    <a:pt x="8593" y="1520743"/>
                    <a:pt x="0" y="1499998"/>
                    <a:pt x="0" y="1478368"/>
                  </a:cubicBezTo>
                  <a:lnTo>
                    <a:pt x="0" y="81560"/>
                  </a:lnTo>
                  <a:cubicBezTo>
                    <a:pt x="0" y="59929"/>
                    <a:pt x="8593" y="39184"/>
                    <a:pt x="23888" y="23888"/>
                  </a:cubicBezTo>
                  <a:cubicBezTo>
                    <a:pt x="39184" y="8593"/>
                    <a:pt x="59929" y="0"/>
                    <a:pt x="8156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275022" cy="1607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723450" y="4821252"/>
            <a:ext cx="4841100" cy="5922848"/>
            <a:chOff x="0" y="0"/>
            <a:chExt cx="1275022" cy="15599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75022" cy="1559927"/>
            </a:xfrm>
            <a:custGeom>
              <a:avLst/>
              <a:gdLst/>
              <a:ahLst/>
              <a:cxnLst/>
              <a:rect r="r" b="b" t="t" l="l"/>
              <a:pathLst>
                <a:path h="1559927" w="1275022">
                  <a:moveTo>
                    <a:pt x="81560" y="0"/>
                  </a:moveTo>
                  <a:lnTo>
                    <a:pt x="1193463" y="0"/>
                  </a:lnTo>
                  <a:cubicBezTo>
                    <a:pt x="1215094" y="0"/>
                    <a:pt x="1235839" y="8593"/>
                    <a:pt x="1251134" y="23888"/>
                  </a:cubicBezTo>
                  <a:cubicBezTo>
                    <a:pt x="1266429" y="39184"/>
                    <a:pt x="1275022" y="59929"/>
                    <a:pt x="1275022" y="81560"/>
                  </a:cubicBezTo>
                  <a:lnTo>
                    <a:pt x="1275022" y="1478368"/>
                  </a:lnTo>
                  <a:cubicBezTo>
                    <a:pt x="1275022" y="1499998"/>
                    <a:pt x="1266429" y="1520743"/>
                    <a:pt x="1251134" y="1536039"/>
                  </a:cubicBezTo>
                  <a:cubicBezTo>
                    <a:pt x="1235839" y="1551334"/>
                    <a:pt x="1215094" y="1559927"/>
                    <a:pt x="1193463" y="1559927"/>
                  </a:cubicBezTo>
                  <a:lnTo>
                    <a:pt x="81560" y="1559927"/>
                  </a:lnTo>
                  <a:cubicBezTo>
                    <a:pt x="59929" y="1559927"/>
                    <a:pt x="39184" y="1551334"/>
                    <a:pt x="23888" y="1536039"/>
                  </a:cubicBezTo>
                  <a:cubicBezTo>
                    <a:pt x="8593" y="1520743"/>
                    <a:pt x="0" y="1499998"/>
                    <a:pt x="0" y="1478368"/>
                  </a:cubicBezTo>
                  <a:lnTo>
                    <a:pt x="0" y="81560"/>
                  </a:lnTo>
                  <a:cubicBezTo>
                    <a:pt x="0" y="59929"/>
                    <a:pt x="8593" y="39184"/>
                    <a:pt x="23888" y="23888"/>
                  </a:cubicBezTo>
                  <a:cubicBezTo>
                    <a:pt x="39184" y="8593"/>
                    <a:pt x="59929" y="0"/>
                    <a:pt x="8156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75022" cy="1607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683827" y="4821252"/>
            <a:ext cx="4841100" cy="5922848"/>
            <a:chOff x="0" y="0"/>
            <a:chExt cx="1275022" cy="155992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75022" cy="1559927"/>
            </a:xfrm>
            <a:custGeom>
              <a:avLst/>
              <a:gdLst/>
              <a:ahLst/>
              <a:cxnLst/>
              <a:rect r="r" b="b" t="t" l="l"/>
              <a:pathLst>
                <a:path h="1559927" w="1275022">
                  <a:moveTo>
                    <a:pt x="81560" y="0"/>
                  </a:moveTo>
                  <a:lnTo>
                    <a:pt x="1193463" y="0"/>
                  </a:lnTo>
                  <a:cubicBezTo>
                    <a:pt x="1215094" y="0"/>
                    <a:pt x="1235839" y="8593"/>
                    <a:pt x="1251134" y="23888"/>
                  </a:cubicBezTo>
                  <a:cubicBezTo>
                    <a:pt x="1266429" y="39184"/>
                    <a:pt x="1275022" y="59929"/>
                    <a:pt x="1275022" y="81560"/>
                  </a:cubicBezTo>
                  <a:lnTo>
                    <a:pt x="1275022" y="1478368"/>
                  </a:lnTo>
                  <a:cubicBezTo>
                    <a:pt x="1275022" y="1499998"/>
                    <a:pt x="1266429" y="1520743"/>
                    <a:pt x="1251134" y="1536039"/>
                  </a:cubicBezTo>
                  <a:cubicBezTo>
                    <a:pt x="1235839" y="1551334"/>
                    <a:pt x="1215094" y="1559927"/>
                    <a:pt x="1193463" y="1559927"/>
                  </a:cubicBezTo>
                  <a:lnTo>
                    <a:pt x="81560" y="1559927"/>
                  </a:lnTo>
                  <a:cubicBezTo>
                    <a:pt x="59929" y="1559927"/>
                    <a:pt x="39184" y="1551334"/>
                    <a:pt x="23888" y="1536039"/>
                  </a:cubicBezTo>
                  <a:cubicBezTo>
                    <a:pt x="8593" y="1520743"/>
                    <a:pt x="0" y="1499998"/>
                    <a:pt x="0" y="1478368"/>
                  </a:cubicBezTo>
                  <a:lnTo>
                    <a:pt x="0" y="81560"/>
                  </a:lnTo>
                  <a:cubicBezTo>
                    <a:pt x="0" y="59929"/>
                    <a:pt x="8593" y="39184"/>
                    <a:pt x="23888" y="23888"/>
                  </a:cubicBezTo>
                  <a:cubicBezTo>
                    <a:pt x="39184" y="8593"/>
                    <a:pt x="59929" y="0"/>
                    <a:pt x="8156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275022" cy="1607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8700" y="5300752"/>
            <a:ext cx="4285050" cy="233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Requerimientos</a:t>
            </a:r>
          </a:p>
          <a:p>
            <a:pPr algn="ctr">
              <a:lnSpc>
                <a:spcPts val="2659"/>
              </a:lnSpc>
            </a:pPr>
          </a:p>
          <a:p>
            <a:pPr algn="ctr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KPIs</a:t>
            </a:r>
          </a:p>
          <a:p>
            <a:pPr algn="ctr">
              <a:lnSpc>
                <a:spcPts val="2659"/>
              </a:lnSpc>
            </a:pPr>
          </a:p>
          <a:p>
            <a:pPr algn="ctr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Backlog</a:t>
            </a:r>
          </a:p>
          <a:p>
            <a:pPr algn="ctr">
              <a:lnSpc>
                <a:spcPts val="2659"/>
              </a:lnSpc>
            </a:pPr>
          </a:p>
          <a:p>
            <a:pPr algn="ctr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Riesgos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07412" y="5300752"/>
            <a:ext cx="4268503" cy="233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Flujos en n8n</a:t>
            </a:r>
          </a:p>
          <a:p>
            <a:pPr algn="ctr">
              <a:lnSpc>
                <a:spcPts val="2659"/>
              </a:lnSpc>
            </a:pPr>
          </a:p>
          <a:p>
            <a:pPr algn="ctr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Integración con APIs</a:t>
            </a:r>
          </a:p>
          <a:p>
            <a:pPr algn="ctr">
              <a:lnSpc>
                <a:spcPts val="2659"/>
              </a:lnSpc>
            </a:pPr>
          </a:p>
          <a:p>
            <a:pPr algn="ctr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Validaciones de capacidad</a:t>
            </a:r>
          </a:p>
          <a:p>
            <a:pPr algn="ctr">
              <a:lnSpc>
                <a:spcPts val="2659"/>
              </a:lnSpc>
            </a:pPr>
          </a:p>
          <a:p>
            <a:pPr algn="ctr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Manejo de respuestas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74250" y="5300752"/>
            <a:ext cx="4285050" cy="233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Validación técnica</a:t>
            </a:r>
          </a:p>
          <a:p>
            <a:pPr algn="ctr">
              <a:lnSpc>
                <a:spcPts val="2659"/>
              </a:lnSpc>
            </a:pPr>
          </a:p>
          <a:p>
            <a:pPr algn="ctr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Pruebas funcionales</a:t>
            </a:r>
          </a:p>
          <a:p>
            <a:pPr algn="ctr">
              <a:lnSpc>
                <a:spcPts val="2659"/>
              </a:lnSpc>
            </a:pPr>
          </a:p>
          <a:p>
            <a:pPr algn="ctr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Correcciones</a:t>
            </a:r>
          </a:p>
          <a:p>
            <a:pPr algn="ctr">
              <a:lnSpc>
                <a:spcPts val="2659"/>
              </a:lnSpc>
            </a:pPr>
          </a:p>
          <a:p>
            <a:pPr algn="ctr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Preparación para el uso real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64425"/>
            <a:ext cx="4998672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KPI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25396" y="3094847"/>
            <a:ext cx="3891658" cy="95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6"/>
              </a:lnSpc>
            </a:pPr>
            <a:r>
              <a:rPr lang="en-US" sz="27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KPI 1:</a:t>
            </a:r>
          </a:p>
          <a:p>
            <a:pPr algn="ctr">
              <a:lnSpc>
                <a:spcPts val="3796"/>
              </a:lnSpc>
              <a:spcBef>
                <a:spcPct val="0"/>
              </a:spcBef>
            </a:pPr>
            <a:r>
              <a:rPr lang="en-US" sz="27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Respuestas Correctas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53125" y="3079493"/>
            <a:ext cx="4581751" cy="1436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6"/>
              </a:lnSpc>
            </a:pPr>
            <a:r>
              <a:rPr lang="en-US" sz="27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KPI 2: </a:t>
            </a:r>
          </a:p>
          <a:p>
            <a:pPr algn="ctr">
              <a:lnSpc>
                <a:spcPts val="3796"/>
              </a:lnSpc>
              <a:spcBef>
                <a:spcPct val="0"/>
              </a:spcBef>
            </a:pPr>
            <a:r>
              <a:rPr lang="en-US" sz="27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Horas reservadas automaticamente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49455" y="3094847"/>
            <a:ext cx="4309845" cy="95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6"/>
              </a:lnSpc>
            </a:pPr>
            <a:r>
              <a:rPr lang="en-US" sz="27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KPI 3: </a:t>
            </a:r>
          </a:p>
          <a:p>
            <a:pPr algn="ctr">
              <a:lnSpc>
                <a:spcPts val="3796"/>
              </a:lnSpc>
              <a:spcBef>
                <a:spcPct val="0"/>
              </a:spcBef>
            </a:pPr>
            <a:r>
              <a:rPr lang="en-US" sz="27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Satisfacción del cliente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58400" y="4821252"/>
            <a:ext cx="4841100" cy="5922848"/>
            <a:chOff x="0" y="0"/>
            <a:chExt cx="1275022" cy="155992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75022" cy="1559927"/>
            </a:xfrm>
            <a:custGeom>
              <a:avLst/>
              <a:gdLst/>
              <a:ahLst/>
              <a:cxnLst/>
              <a:rect r="r" b="b" t="t" l="l"/>
              <a:pathLst>
                <a:path h="1559927" w="1275022">
                  <a:moveTo>
                    <a:pt x="81560" y="0"/>
                  </a:moveTo>
                  <a:lnTo>
                    <a:pt x="1193463" y="0"/>
                  </a:lnTo>
                  <a:cubicBezTo>
                    <a:pt x="1215094" y="0"/>
                    <a:pt x="1235839" y="8593"/>
                    <a:pt x="1251134" y="23888"/>
                  </a:cubicBezTo>
                  <a:cubicBezTo>
                    <a:pt x="1266429" y="39184"/>
                    <a:pt x="1275022" y="59929"/>
                    <a:pt x="1275022" y="81560"/>
                  </a:cubicBezTo>
                  <a:lnTo>
                    <a:pt x="1275022" y="1478368"/>
                  </a:lnTo>
                  <a:cubicBezTo>
                    <a:pt x="1275022" y="1499998"/>
                    <a:pt x="1266429" y="1520743"/>
                    <a:pt x="1251134" y="1536039"/>
                  </a:cubicBezTo>
                  <a:cubicBezTo>
                    <a:pt x="1235839" y="1551334"/>
                    <a:pt x="1215094" y="1559927"/>
                    <a:pt x="1193463" y="1559927"/>
                  </a:cubicBezTo>
                  <a:lnTo>
                    <a:pt x="81560" y="1559927"/>
                  </a:lnTo>
                  <a:cubicBezTo>
                    <a:pt x="59929" y="1559927"/>
                    <a:pt x="39184" y="1551334"/>
                    <a:pt x="23888" y="1536039"/>
                  </a:cubicBezTo>
                  <a:cubicBezTo>
                    <a:pt x="8593" y="1520743"/>
                    <a:pt x="0" y="1499998"/>
                    <a:pt x="0" y="1478368"/>
                  </a:cubicBezTo>
                  <a:lnTo>
                    <a:pt x="0" y="81560"/>
                  </a:lnTo>
                  <a:cubicBezTo>
                    <a:pt x="0" y="59929"/>
                    <a:pt x="8593" y="39184"/>
                    <a:pt x="23888" y="23888"/>
                  </a:cubicBezTo>
                  <a:cubicBezTo>
                    <a:pt x="39184" y="8593"/>
                    <a:pt x="59929" y="0"/>
                    <a:pt x="8156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275022" cy="1607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723450" y="4821252"/>
            <a:ext cx="4841100" cy="5922848"/>
            <a:chOff x="0" y="0"/>
            <a:chExt cx="1275022" cy="15599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75022" cy="1559927"/>
            </a:xfrm>
            <a:custGeom>
              <a:avLst/>
              <a:gdLst/>
              <a:ahLst/>
              <a:cxnLst/>
              <a:rect r="r" b="b" t="t" l="l"/>
              <a:pathLst>
                <a:path h="1559927" w="1275022">
                  <a:moveTo>
                    <a:pt x="81560" y="0"/>
                  </a:moveTo>
                  <a:lnTo>
                    <a:pt x="1193463" y="0"/>
                  </a:lnTo>
                  <a:cubicBezTo>
                    <a:pt x="1215094" y="0"/>
                    <a:pt x="1235839" y="8593"/>
                    <a:pt x="1251134" y="23888"/>
                  </a:cubicBezTo>
                  <a:cubicBezTo>
                    <a:pt x="1266429" y="39184"/>
                    <a:pt x="1275022" y="59929"/>
                    <a:pt x="1275022" y="81560"/>
                  </a:cubicBezTo>
                  <a:lnTo>
                    <a:pt x="1275022" y="1478368"/>
                  </a:lnTo>
                  <a:cubicBezTo>
                    <a:pt x="1275022" y="1499998"/>
                    <a:pt x="1266429" y="1520743"/>
                    <a:pt x="1251134" y="1536039"/>
                  </a:cubicBezTo>
                  <a:cubicBezTo>
                    <a:pt x="1235839" y="1551334"/>
                    <a:pt x="1215094" y="1559927"/>
                    <a:pt x="1193463" y="1559927"/>
                  </a:cubicBezTo>
                  <a:lnTo>
                    <a:pt x="81560" y="1559927"/>
                  </a:lnTo>
                  <a:cubicBezTo>
                    <a:pt x="59929" y="1559927"/>
                    <a:pt x="39184" y="1551334"/>
                    <a:pt x="23888" y="1536039"/>
                  </a:cubicBezTo>
                  <a:cubicBezTo>
                    <a:pt x="8593" y="1520743"/>
                    <a:pt x="0" y="1499998"/>
                    <a:pt x="0" y="1478368"/>
                  </a:cubicBezTo>
                  <a:lnTo>
                    <a:pt x="0" y="81560"/>
                  </a:lnTo>
                  <a:cubicBezTo>
                    <a:pt x="0" y="59929"/>
                    <a:pt x="8593" y="39184"/>
                    <a:pt x="23888" y="23888"/>
                  </a:cubicBezTo>
                  <a:cubicBezTo>
                    <a:pt x="39184" y="8593"/>
                    <a:pt x="59929" y="0"/>
                    <a:pt x="8156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75022" cy="1607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683827" y="4821252"/>
            <a:ext cx="4841100" cy="5922848"/>
            <a:chOff x="0" y="0"/>
            <a:chExt cx="1275022" cy="155992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75022" cy="1559927"/>
            </a:xfrm>
            <a:custGeom>
              <a:avLst/>
              <a:gdLst/>
              <a:ahLst/>
              <a:cxnLst/>
              <a:rect r="r" b="b" t="t" l="l"/>
              <a:pathLst>
                <a:path h="1559927" w="1275022">
                  <a:moveTo>
                    <a:pt x="81560" y="0"/>
                  </a:moveTo>
                  <a:lnTo>
                    <a:pt x="1193463" y="0"/>
                  </a:lnTo>
                  <a:cubicBezTo>
                    <a:pt x="1215094" y="0"/>
                    <a:pt x="1235839" y="8593"/>
                    <a:pt x="1251134" y="23888"/>
                  </a:cubicBezTo>
                  <a:cubicBezTo>
                    <a:pt x="1266429" y="39184"/>
                    <a:pt x="1275022" y="59929"/>
                    <a:pt x="1275022" y="81560"/>
                  </a:cubicBezTo>
                  <a:lnTo>
                    <a:pt x="1275022" y="1478368"/>
                  </a:lnTo>
                  <a:cubicBezTo>
                    <a:pt x="1275022" y="1499998"/>
                    <a:pt x="1266429" y="1520743"/>
                    <a:pt x="1251134" y="1536039"/>
                  </a:cubicBezTo>
                  <a:cubicBezTo>
                    <a:pt x="1235839" y="1551334"/>
                    <a:pt x="1215094" y="1559927"/>
                    <a:pt x="1193463" y="1559927"/>
                  </a:cubicBezTo>
                  <a:lnTo>
                    <a:pt x="81560" y="1559927"/>
                  </a:lnTo>
                  <a:cubicBezTo>
                    <a:pt x="59929" y="1559927"/>
                    <a:pt x="39184" y="1551334"/>
                    <a:pt x="23888" y="1536039"/>
                  </a:cubicBezTo>
                  <a:cubicBezTo>
                    <a:pt x="8593" y="1520743"/>
                    <a:pt x="0" y="1499998"/>
                    <a:pt x="0" y="1478368"/>
                  </a:cubicBezTo>
                  <a:lnTo>
                    <a:pt x="0" y="81560"/>
                  </a:lnTo>
                  <a:cubicBezTo>
                    <a:pt x="0" y="59929"/>
                    <a:pt x="8593" y="39184"/>
                    <a:pt x="23888" y="23888"/>
                  </a:cubicBezTo>
                  <a:cubicBezTo>
                    <a:pt x="39184" y="8593"/>
                    <a:pt x="59929" y="0"/>
                    <a:pt x="8156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275022" cy="1607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8700" y="5300752"/>
            <a:ext cx="4285050" cy="3773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Mide calidad  y utilidad de las respuestas generadas.</a:t>
            </a:r>
          </a:p>
          <a:p>
            <a:pPr algn="ctr">
              <a:lnSpc>
                <a:spcPts val="2520"/>
              </a:lnSpc>
            </a:pPr>
          </a:p>
          <a:p>
            <a:pPr algn="ctr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Se registran automaticamente los mensajes del bot.</a:t>
            </a:r>
          </a:p>
          <a:p>
            <a:pPr algn="ctr">
              <a:lnSpc>
                <a:spcPts val="2520"/>
              </a:lnSpc>
            </a:pPr>
          </a:p>
          <a:p>
            <a:pPr algn="ctr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Se definen criteros de evaluación claros.</a:t>
            </a:r>
          </a:p>
          <a:p>
            <a:pPr algn="ctr">
              <a:lnSpc>
                <a:spcPts val="2520"/>
              </a:lnSpc>
            </a:pPr>
          </a:p>
          <a:p>
            <a:pPr algn="ctr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Se calcula semanalmente.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(Respuestas útiles / Respuestas totales) x 100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09748" y="5300752"/>
            <a:ext cx="4268503" cy="4716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Mide la eficiencia del sistema en convertir solicitudes en reservas sin intervención humana.</a:t>
            </a:r>
          </a:p>
          <a:p>
            <a:pPr algn="ctr">
              <a:lnSpc>
                <a:spcPts val="2520"/>
              </a:lnSpc>
            </a:pPr>
          </a:p>
          <a:p>
            <a:pPr algn="ctr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Las reservas se registran automaticamente en el flujo n8n.</a:t>
            </a:r>
          </a:p>
          <a:p>
            <a:pPr algn="ctr">
              <a:lnSpc>
                <a:spcPts val="2520"/>
              </a:lnSpc>
            </a:pPr>
          </a:p>
          <a:p>
            <a:pPr algn="ctr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Se registran horas manualmente en otro plantilla.</a:t>
            </a:r>
          </a:p>
          <a:p>
            <a:pPr algn="ctr">
              <a:lnSpc>
                <a:spcPts val="2520"/>
              </a:lnSpc>
            </a:pPr>
          </a:p>
          <a:p>
            <a:pPr algn="ctr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Se calcua semanalmente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(Reservas automatizadas / reservas totales) x 100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74250" y="5300752"/>
            <a:ext cx="4285050" cy="440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Mide la percepción del usuario sobre la atención automatizada.</a:t>
            </a:r>
          </a:p>
          <a:p>
            <a:pPr algn="ctr">
              <a:lnSpc>
                <a:spcPts val="2520"/>
              </a:lnSpc>
            </a:pPr>
          </a:p>
          <a:p>
            <a:pPr algn="ctr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Al final de la interacción el bot entrega un encuesta para calificar la atención de 1 al 10.</a:t>
            </a:r>
          </a:p>
          <a:p>
            <a:pPr algn="ctr">
              <a:lnSpc>
                <a:spcPts val="2520"/>
              </a:lnSpc>
            </a:pPr>
          </a:p>
          <a:p>
            <a:pPr algn="ctr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Fijamos la meta en la calificación 8.</a:t>
            </a:r>
          </a:p>
          <a:p>
            <a:pPr algn="ctr">
              <a:lnSpc>
                <a:spcPts val="2520"/>
              </a:lnSpc>
            </a:pPr>
          </a:p>
          <a:p>
            <a:pPr algn="ctr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Si el promedio baja de 8, hay que hacer ajustes a la forma en la que se maneja el bot.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61177" y="2099991"/>
            <a:ext cx="14965646" cy="6634809"/>
            <a:chOff x="0" y="0"/>
            <a:chExt cx="3941569" cy="17474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41569" cy="1747439"/>
            </a:xfrm>
            <a:custGeom>
              <a:avLst/>
              <a:gdLst/>
              <a:ahLst/>
              <a:cxnLst/>
              <a:rect r="r" b="b" t="t" l="l"/>
              <a:pathLst>
                <a:path h="1747439" w="3941569">
                  <a:moveTo>
                    <a:pt x="26383" y="0"/>
                  </a:moveTo>
                  <a:lnTo>
                    <a:pt x="3915187" y="0"/>
                  </a:lnTo>
                  <a:cubicBezTo>
                    <a:pt x="3922184" y="0"/>
                    <a:pt x="3928894" y="2780"/>
                    <a:pt x="3933842" y="7727"/>
                  </a:cubicBezTo>
                  <a:cubicBezTo>
                    <a:pt x="3938790" y="12675"/>
                    <a:pt x="3941569" y="19386"/>
                    <a:pt x="3941569" y="26383"/>
                  </a:cubicBezTo>
                  <a:lnTo>
                    <a:pt x="3941569" y="1721057"/>
                  </a:lnTo>
                  <a:cubicBezTo>
                    <a:pt x="3941569" y="1728054"/>
                    <a:pt x="3938790" y="1734764"/>
                    <a:pt x="3933842" y="1739712"/>
                  </a:cubicBezTo>
                  <a:cubicBezTo>
                    <a:pt x="3928894" y="1744660"/>
                    <a:pt x="3922184" y="1747439"/>
                    <a:pt x="3915187" y="1747439"/>
                  </a:cubicBezTo>
                  <a:lnTo>
                    <a:pt x="26383" y="1747439"/>
                  </a:lnTo>
                  <a:cubicBezTo>
                    <a:pt x="19386" y="1747439"/>
                    <a:pt x="12675" y="1744660"/>
                    <a:pt x="7727" y="1739712"/>
                  </a:cubicBezTo>
                  <a:cubicBezTo>
                    <a:pt x="2780" y="1734764"/>
                    <a:pt x="0" y="1728054"/>
                    <a:pt x="0" y="1721057"/>
                  </a:cubicBezTo>
                  <a:lnTo>
                    <a:pt x="0" y="26383"/>
                  </a:lnTo>
                  <a:cubicBezTo>
                    <a:pt x="0" y="19386"/>
                    <a:pt x="2780" y="12675"/>
                    <a:pt x="7727" y="7727"/>
                  </a:cubicBezTo>
                  <a:cubicBezTo>
                    <a:pt x="12675" y="2780"/>
                    <a:pt x="19386" y="0"/>
                    <a:pt x="26383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941569" cy="1795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923925"/>
            <a:ext cx="5119519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b="true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08502" y="3573860"/>
            <a:ext cx="13270996" cy="3846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30892" indent="-215446" lvl="1">
              <a:lnSpc>
                <a:spcPts val="2794"/>
              </a:lnSpc>
              <a:buFont typeface="Arial"/>
              <a:buChar char="•"/>
            </a:pPr>
            <a:r>
              <a:rPr lang="en-US" sz="1995">
                <a:solidFill>
                  <a:srgbClr val="F3F3F3"/>
                </a:solidFill>
                <a:latin typeface="Archivo Black"/>
                <a:ea typeface="Archivo Black"/>
                <a:cs typeface="Archivo Black"/>
                <a:sym typeface="Archivo Black"/>
              </a:rPr>
              <a:t>Automatizamos un proceso crítico del gimnasio, reduciendo tiempos de respuesta y carga operativa.</a:t>
            </a:r>
          </a:p>
          <a:p>
            <a:pPr algn="ctr">
              <a:lnSpc>
                <a:spcPts val="2794"/>
              </a:lnSpc>
            </a:pPr>
          </a:p>
          <a:p>
            <a:pPr algn="ctr" marL="430892" indent="-215446" lvl="1">
              <a:lnSpc>
                <a:spcPts val="2794"/>
              </a:lnSpc>
              <a:buFont typeface="Arial"/>
              <a:buChar char="•"/>
            </a:pPr>
            <a:r>
              <a:rPr lang="en-US" sz="1995">
                <a:solidFill>
                  <a:srgbClr val="F3F3F3"/>
                </a:solidFill>
                <a:latin typeface="Archivo Black"/>
                <a:ea typeface="Archivo Black"/>
                <a:cs typeface="Archivo Black"/>
                <a:sym typeface="Archivo Black"/>
              </a:rPr>
              <a:t>Integramos IA, n8n y WhatsApp para construir una solución escalable y alineada con las necesidades reales del cliente.</a:t>
            </a:r>
          </a:p>
          <a:p>
            <a:pPr algn="ctr">
              <a:lnSpc>
                <a:spcPts val="2794"/>
              </a:lnSpc>
            </a:pPr>
          </a:p>
          <a:p>
            <a:pPr algn="ctr" marL="430892" indent="-215446" lvl="1">
              <a:lnSpc>
                <a:spcPts val="2794"/>
              </a:lnSpc>
              <a:buFont typeface="Arial"/>
              <a:buChar char="•"/>
            </a:pPr>
            <a:r>
              <a:rPr lang="en-US" sz="1995">
                <a:solidFill>
                  <a:srgbClr val="F3F3F3"/>
                </a:solidFill>
                <a:latin typeface="Archivo Black"/>
                <a:ea typeface="Archivo Black"/>
                <a:cs typeface="Archivo Black"/>
                <a:sym typeface="Archivo Black"/>
              </a:rPr>
              <a:t>El proyecto fortaleció nuestras competencias profesionales en análisis, diseño técnico e integración de sistemas.</a:t>
            </a:r>
          </a:p>
          <a:p>
            <a:pPr algn="ctr">
              <a:lnSpc>
                <a:spcPts val="2794"/>
              </a:lnSpc>
            </a:pPr>
          </a:p>
          <a:p>
            <a:pPr algn="ctr" marL="430892" indent="-215446" lvl="1">
              <a:lnSpc>
                <a:spcPts val="2794"/>
              </a:lnSpc>
              <a:buFont typeface="Arial"/>
              <a:buChar char="•"/>
            </a:pPr>
            <a:r>
              <a:rPr lang="en-US" sz="1995">
                <a:solidFill>
                  <a:srgbClr val="F3F3F3"/>
                </a:solidFill>
                <a:latin typeface="Archivo Black"/>
                <a:ea typeface="Archivo Black"/>
                <a:cs typeface="Archivo Black"/>
                <a:sym typeface="Archivo Black"/>
              </a:rPr>
              <a:t>La solución deja una base sólida para futuras mejoras y nuevas automatizaciones.</a:t>
            </a:r>
          </a:p>
          <a:p>
            <a:pPr algn="ctr">
              <a:lnSpc>
                <a:spcPts val="2654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8500" y="3124200"/>
            <a:ext cx="5245100" cy="1332778"/>
            <a:chOff x="0" y="0"/>
            <a:chExt cx="1381426" cy="3510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81426" cy="351020"/>
            </a:xfrm>
            <a:custGeom>
              <a:avLst/>
              <a:gdLst/>
              <a:ahLst/>
              <a:cxnLst/>
              <a:rect r="r" b="b" t="t" l="l"/>
              <a:pathLst>
                <a:path h="351020" w="1381426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81426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741400" y="3124200"/>
            <a:ext cx="5118100" cy="1332778"/>
            <a:chOff x="0" y="0"/>
            <a:chExt cx="1347977" cy="3510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7977" cy="351020"/>
            </a:xfrm>
            <a:custGeom>
              <a:avLst/>
              <a:gdLst/>
              <a:ahLst/>
              <a:cxnLst/>
              <a:rect r="r" b="b" t="t" l="l"/>
              <a:pathLst>
                <a:path h="351020" w="1347977">
                  <a:moveTo>
                    <a:pt x="77145" y="0"/>
                  </a:moveTo>
                  <a:lnTo>
                    <a:pt x="1270832" y="0"/>
                  </a:lnTo>
                  <a:cubicBezTo>
                    <a:pt x="1291292" y="0"/>
                    <a:pt x="1310914" y="8128"/>
                    <a:pt x="1325382" y="22595"/>
                  </a:cubicBezTo>
                  <a:cubicBezTo>
                    <a:pt x="1339849" y="37063"/>
                    <a:pt x="1347977" y="56685"/>
                    <a:pt x="1347977" y="77145"/>
                  </a:cubicBezTo>
                  <a:lnTo>
                    <a:pt x="1347977" y="273874"/>
                  </a:lnTo>
                  <a:cubicBezTo>
                    <a:pt x="1347977" y="316480"/>
                    <a:pt x="1313438" y="351020"/>
                    <a:pt x="1270832" y="351020"/>
                  </a:cubicBezTo>
                  <a:lnTo>
                    <a:pt x="77145" y="351020"/>
                  </a:lnTo>
                  <a:cubicBezTo>
                    <a:pt x="34539" y="351020"/>
                    <a:pt x="0" y="316480"/>
                    <a:pt x="0" y="273874"/>
                  </a:cubicBezTo>
                  <a:lnTo>
                    <a:pt x="0" y="77145"/>
                  </a:lnTo>
                  <a:cubicBezTo>
                    <a:pt x="0" y="34539"/>
                    <a:pt x="34539" y="0"/>
                    <a:pt x="7714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347977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933297" y="3191597"/>
            <a:ext cx="8421405" cy="126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34"/>
              </a:lnSpc>
            </a:pPr>
            <a:r>
              <a:rPr lang="en-US" b="true" sz="738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GRACIAS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616825" y="6705600"/>
            <a:ext cx="3054350" cy="761278"/>
            <a:chOff x="0" y="0"/>
            <a:chExt cx="804438" cy="2005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04438" cy="200501"/>
            </a:xfrm>
            <a:custGeom>
              <a:avLst/>
              <a:gdLst/>
              <a:ahLst/>
              <a:cxnLst/>
              <a:rect r="r" b="b" t="t" l="l"/>
              <a:pathLst>
                <a:path h="200501" w="804438">
                  <a:moveTo>
                    <a:pt x="100251" y="0"/>
                  </a:moveTo>
                  <a:lnTo>
                    <a:pt x="704187" y="0"/>
                  </a:lnTo>
                  <a:cubicBezTo>
                    <a:pt x="730775" y="0"/>
                    <a:pt x="756275" y="10562"/>
                    <a:pt x="775075" y="29363"/>
                  </a:cubicBezTo>
                  <a:cubicBezTo>
                    <a:pt x="793876" y="48163"/>
                    <a:pt x="804438" y="73662"/>
                    <a:pt x="804438" y="100251"/>
                  </a:cubicBezTo>
                  <a:lnTo>
                    <a:pt x="804438" y="100251"/>
                  </a:lnTo>
                  <a:cubicBezTo>
                    <a:pt x="804438" y="155617"/>
                    <a:pt x="759554" y="200501"/>
                    <a:pt x="704187" y="200501"/>
                  </a:cubicBezTo>
                  <a:lnTo>
                    <a:pt x="100251" y="200501"/>
                  </a:lnTo>
                  <a:cubicBezTo>
                    <a:pt x="44884" y="200501"/>
                    <a:pt x="0" y="155617"/>
                    <a:pt x="0" y="100251"/>
                  </a:cubicBezTo>
                  <a:lnTo>
                    <a:pt x="0" y="100251"/>
                  </a:lnTo>
                  <a:cubicBezTo>
                    <a:pt x="0" y="44884"/>
                    <a:pt x="44884" y="0"/>
                    <a:pt x="100251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04438" cy="248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Ahora la demo.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DAG5JyaJKSg</dc:identifier>
  <dcterms:modified xsi:type="dcterms:W3CDTF">2011-08-01T06:04:30Z</dcterms:modified>
  <cp:revision>1</cp:revision>
  <dc:title>Proyecto APT</dc:title>
</cp:coreProperties>
</file>