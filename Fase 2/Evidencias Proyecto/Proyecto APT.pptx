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10287000" cx="18288000"/>
  <p:notesSz cx="6858000" cy="9144000"/>
  <p:embeddedFontLst>
    <p:embeddedFont>
      <p:font typeface="League Spartan"/>
      <p:regular r:id="rId18"/>
      <p:bold r:id="rId19"/>
    </p:embeddedFont>
    <p:embeddedFont>
      <p:font typeface="Roboto"/>
      <p:bold r:id="rId20"/>
      <p:boldItalic r:id="rId21"/>
    </p:embeddedFont>
    <p:embeddedFont>
      <p:font typeface="Poppins"/>
      <p:regular r:id="rId22"/>
      <p:bold r:id="rId23"/>
      <p:italic r:id="rId24"/>
      <p:boldItalic r:id="rId25"/>
    </p:embeddedFont>
    <p:embeddedFont>
      <p:font typeface="Archivo Black"/>
      <p:regular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j1rdnErv1kpd+z1nickP07Kxdl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.fntdata"/><Relationship Id="rId22" Type="http://schemas.openxmlformats.org/officeDocument/2006/relationships/font" Target="fonts/Poppins-regular.fntdata"/><Relationship Id="rId21" Type="http://schemas.openxmlformats.org/officeDocument/2006/relationships/font" Target="fonts/Roboto-boldItalic.fntdata"/><Relationship Id="rId24" Type="http://schemas.openxmlformats.org/officeDocument/2006/relationships/font" Target="fonts/Poppins-italic.fntdata"/><Relationship Id="rId23" Type="http://schemas.openxmlformats.org/officeDocument/2006/relationships/font" Target="fonts/Poppi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ArchivoBlack-regular.fntdata"/><Relationship Id="rId25" Type="http://schemas.openxmlformats.org/officeDocument/2006/relationships/font" Target="fonts/Poppins-boldItalic.fntdata"/><Relationship Id="rId27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LeagueSpartan-bold.fntdata"/><Relationship Id="rId18" Type="http://schemas.openxmlformats.org/officeDocument/2006/relationships/font" Target="fonts/LeagueSpartan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jp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jpg"/><Relationship Id="rId4" Type="http://schemas.openxmlformats.org/officeDocument/2006/relationships/image" Target="../media/image8.jpg"/><Relationship Id="rId5" Type="http://schemas.openxmlformats.org/officeDocument/2006/relationships/image" Target="../media/image4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jpg"/><Relationship Id="rId4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jpg"/><Relationship Id="rId4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3.png"/><Relationship Id="rId9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5" name="Google Shape;85;p1"/>
          <p:cNvSpPr txBox="1"/>
          <p:nvPr/>
        </p:nvSpPr>
        <p:spPr>
          <a:xfrm>
            <a:off x="3088379" y="4279967"/>
            <a:ext cx="12111243" cy="28856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65" u="none" cap="none" strike="noStrike">
                <a:solidFill>
                  <a:srgbClr val="004AAD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CHATBOT: ATENCIÓN AL CLIENTE</a:t>
            </a:r>
            <a:endParaRPr/>
          </a:p>
        </p:txBody>
      </p:sp>
      <p:grpSp>
        <p:nvGrpSpPr>
          <p:cNvPr id="86" name="Google Shape;86;p1"/>
          <p:cNvGrpSpPr/>
          <p:nvPr/>
        </p:nvGrpSpPr>
        <p:grpSpPr>
          <a:xfrm>
            <a:off x="-1130300" y="3876924"/>
            <a:ext cx="3086100" cy="2352325"/>
            <a:chOff x="0" y="-47625"/>
            <a:chExt cx="812800" cy="619542"/>
          </a:xfrm>
        </p:grpSpPr>
        <p:sp>
          <p:nvSpPr>
            <p:cNvPr id="87" name="Google Shape;87;p1"/>
            <p:cNvSpPr/>
            <p:nvPr/>
          </p:nvSpPr>
          <p:spPr>
            <a:xfrm>
              <a:off x="0" y="0"/>
              <a:ext cx="812800" cy="571917"/>
            </a:xfrm>
            <a:custGeom>
              <a:rect b="b" l="l" r="r" t="t"/>
              <a:pathLst>
                <a:path extrusionOk="0" h="571917" w="812800">
                  <a:moveTo>
                    <a:pt x="609600" y="0"/>
                  </a:moveTo>
                  <a:cubicBezTo>
                    <a:pt x="721824" y="0"/>
                    <a:pt x="812800" y="128028"/>
                    <a:pt x="812800" y="285959"/>
                  </a:cubicBezTo>
                  <a:cubicBezTo>
                    <a:pt x="812800" y="443889"/>
                    <a:pt x="721824" y="571917"/>
                    <a:pt x="609600" y="571917"/>
                  </a:cubicBezTo>
                  <a:lnTo>
                    <a:pt x="203200" y="571917"/>
                  </a:lnTo>
                  <a:cubicBezTo>
                    <a:pt x="90976" y="571917"/>
                    <a:pt x="0" y="443889"/>
                    <a:pt x="0" y="285959"/>
                  </a:cubicBezTo>
                  <a:cubicBezTo>
                    <a:pt x="0" y="12802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1"/>
            <p:cNvSpPr txBox="1"/>
            <p:nvPr/>
          </p:nvSpPr>
          <p:spPr>
            <a:xfrm>
              <a:off x="0" y="-47625"/>
              <a:ext cx="812800" cy="6195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" name="Google Shape;89;p1"/>
          <p:cNvGrpSpPr/>
          <p:nvPr/>
        </p:nvGrpSpPr>
        <p:grpSpPr>
          <a:xfrm>
            <a:off x="16467343" y="3876924"/>
            <a:ext cx="3086100" cy="2352325"/>
            <a:chOff x="0" y="-47625"/>
            <a:chExt cx="812800" cy="619542"/>
          </a:xfrm>
        </p:grpSpPr>
        <p:sp>
          <p:nvSpPr>
            <p:cNvPr id="90" name="Google Shape;90;p1"/>
            <p:cNvSpPr/>
            <p:nvPr/>
          </p:nvSpPr>
          <p:spPr>
            <a:xfrm>
              <a:off x="0" y="0"/>
              <a:ext cx="812800" cy="571917"/>
            </a:xfrm>
            <a:custGeom>
              <a:rect b="b" l="l" r="r" t="t"/>
              <a:pathLst>
                <a:path extrusionOk="0" h="571917" w="812800">
                  <a:moveTo>
                    <a:pt x="609600" y="0"/>
                  </a:moveTo>
                  <a:cubicBezTo>
                    <a:pt x="721824" y="0"/>
                    <a:pt x="812800" y="128028"/>
                    <a:pt x="812800" y="285959"/>
                  </a:cubicBezTo>
                  <a:cubicBezTo>
                    <a:pt x="812800" y="443889"/>
                    <a:pt x="721824" y="571917"/>
                    <a:pt x="609600" y="571917"/>
                  </a:cubicBezTo>
                  <a:lnTo>
                    <a:pt x="203200" y="571917"/>
                  </a:lnTo>
                  <a:cubicBezTo>
                    <a:pt x="90976" y="571917"/>
                    <a:pt x="0" y="443889"/>
                    <a:pt x="0" y="285959"/>
                  </a:cubicBezTo>
                  <a:cubicBezTo>
                    <a:pt x="0" y="12802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"/>
            <p:cNvSpPr txBox="1"/>
            <p:nvPr/>
          </p:nvSpPr>
          <p:spPr>
            <a:xfrm>
              <a:off x="0" y="-47625"/>
              <a:ext cx="812800" cy="61954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" name="Google Shape;92;p1"/>
          <p:cNvSpPr/>
          <p:nvPr/>
        </p:nvSpPr>
        <p:spPr>
          <a:xfrm>
            <a:off x="412750" y="235950"/>
            <a:ext cx="4925646" cy="1102113"/>
          </a:xfrm>
          <a:custGeom>
            <a:rect b="b" l="l" r="r" t="t"/>
            <a:pathLst>
              <a:path extrusionOk="0" h="1102113" w="4925646">
                <a:moveTo>
                  <a:pt x="0" y="0"/>
                </a:moveTo>
                <a:lnTo>
                  <a:pt x="4925646" y="0"/>
                </a:lnTo>
                <a:lnTo>
                  <a:pt x="4925646" y="1102113"/>
                </a:lnTo>
                <a:lnTo>
                  <a:pt x="0" y="110211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3" name="Google Shape;93;p1"/>
          <p:cNvSpPr txBox="1"/>
          <p:nvPr/>
        </p:nvSpPr>
        <p:spPr>
          <a:xfrm>
            <a:off x="6323004" y="3528848"/>
            <a:ext cx="5641992" cy="913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303" u="none" cap="none" strike="noStrike">
                <a:solidFill>
                  <a:srgbClr val="303642"/>
                </a:solidFill>
                <a:latin typeface="Roboto"/>
                <a:ea typeface="Roboto"/>
                <a:cs typeface="Roboto"/>
                <a:sym typeface="Roboto"/>
              </a:rPr>
              <a:t>PROYECTO APT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1028700" y="8076432"/>
            <a:ext cx="2907448" cy="11818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19" u="none" cap="none" strike="noStrike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Integrantes: </a:t>
            </a:r>
            <a:endParaRPr/>
          </a:p>
          <a:p>
            <a:pPr indent="-239623" lvl="1" marL="479247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303642"/>
              </a:buClr>
              <a:buSzPts val="2219"/>
              <a:buFont typeface="Arial"/>
              <a:buChar char="•"/>
            </a:pPr>
            <a:r>
              <a:rPr b="0" i="0" lang="en-US" sz="2219" u="none" cap="none" strike="noStrike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Vicente Baranda</a:t>
            </a:r>
            <a:endParaRPr/>
          </a:p>
          <a:p>
            <a:pPr indent="-239623" lvl="1" marL="479247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303642"/>
              </a:buClr>
              <a:buSzPts val="2219"/>
              <a:buFont typeface="Arial"/>
              <a:buChar char="•"/>
            </a:pPr>
            <a:r>
              <a:rPr b="0" i="0" lang="en-US" sz="2219" u="none" cap="none" strike="noStrike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Andrés Gatica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5802044" y="8857482"/>
            <a:ext cx="6683912" cy="4008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19" u="none" cap="none" strike="noStrike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20 / 11 / 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1" name="Google Shape;101;p2"/>
          <p:cNvGrpSpPr/>
          <p:nvPr/>
        </p:nvGrpSpPr>
        <p:grpSpPr>
          <a:xfrm>
            <a:off x="0" y="-180826"/>
            <a:ext cx="6792707" cy="10467826"/>
            <a:chOff x="0" y="-47625"/>
            <a:chExt cx="1789026" cy="2756958"/>
          </a:xfrm>
        </p:grpSpPr>
        <p:sp>
          <p:nvSpPr>
            <p:cNvPr id="102" name="Google Shape;102;p2"/>
            <p:cNvSpPr/>
            <p:nvPr/>
          </p:nvSpPr>
          <p:spPr>
            <a:xfrm>
              <a:off x="0" y="0"/>
              <a:ext cx="1789026" cy="2709333"/>
            </a:xfrm>
            <a:custGeom>
              <a:rect b="b" l="l" r="r" t="t"/>
              <a:pathLst>
                <a:path extrusionOk="0" h="2709333" w="1789026">
                  <a:moveTo>
                    <a:pt x="0" y="0"/>
                  </a:moveTo>
                  <a:lnTo>
                    <a:pt x="1789026" y="0"/>
                  </a:lnTo>
                  <a:lnTo>
                    <a:pt x="178902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</p:sp>
        <p:sp>
          <p:nvSpPr>
            <p:cNvPr id="103" name="Google Shape;103;p2"/>
            <p:cNvSpPr txBox="1"/>
            <p:nvPr/>
          </p:nvSpPr>
          <p:spPr>
            <a:xfrm>
              <a:off x="0" y="-47625"/>
              <a:ext cx="1789026" cy="275695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4" name="Google Shape;104;p2"/>
          <p:cNvGrpSpPr/>
          <p:nvPr/>
        </p:nvGrpSpPr>
        <p:grpSpPr>
          <a:xfrm>
            <a:off x="5446818" y="8449679"/>
            <a:ext cx="897167" cy="2364371"/>
            <a:chOff x="0" y="-47625"/>
            <a:chExt cx="236291" cy="622715"/>
          </a:xfrm>
        </p:grpSpPr>
        <p:sp>
          <p:nvSpPr>
            <p:cNvPr id="105" name="Google Shape;105;p2"/>
            <p:cNvSpPr/>
            <p:nvPr/>
          </p:nvSpPr>
          <p:spPr>
            <a:xfrm>
              <a:off x="0" y="0"/>
              <a:ext cx="236291" cy="575090"/>
            </a:xfrm>
            <a:custGeom>
              <a:rect b="b" l="l" r="r" t="t"/>
              <a:pathLst>
                <a:path extrusionOk="0" h="575090" w="236291">
                  <a:moveTo>
                    <a:pt x="118145" y="0"/>
                  </a:moveTo>
                  <a:lnTo>
                    <a:pt x="118145" y="0"/>
                  </a:lnTo>
                  <a:cubicBezTo>
                    <a:pt x="183395" y="0"/>
                    <a:pt x="236291" y="52895"/>
                    <a:pt x="236291" y="118145"/>
                  </a:cubicBezTo>
                  <a:lnTo>
                    <a:pt x="236291" y="456945"/>
                  </a:lnTo>
                  <a:cubicBezTo>
                    <a:pt x="236291" y="488279"/>
                    <a:pt x="223843" y="518330"/>
                    <a:pt x="201687" y="540486"/>
                  </a:cubicBezTo>
                  <a:cubicBezTo>
                    <a:pt x="179530" y="562643"/>
                    <a:pt x="149480" y="575090"/>
                    <a:pt x="118145" y="575090"/>
                  </a:cubicBezTo>
                  <a:lnTo>
                    <a:pt x="118145" y="575090"/>
                  </a:lnTo>
                  <a:cubicBezTo>
                    <a:pt x="86811" y="575090"/>
                    <a:pt x="56761" y="562643"/>
                    <a:pt x="34604" y="540486"/>
                  </a:cubicBezTo>
                  <a:cubicBezTo>
                    <a:pt x="12447" y="518330"/>
                    <a:pt x="0" y="488279"/>
                    <a:pt x="0" y="456945"/>
                  </a:cubicBezTo>
                  <a:lnTo>
                    <a:pt x="0" y="118145"/>
                  </a:lnTo>
                  <a:cubicBezTo>
                    <a:pt x="0" y="86811"/>
                    <a:pt x="12447" y="56761"/>
                    <a:pt x="34604" y="34604"/>
                  </a:cubicBezTo>
                  <a:cubicBezTo>
                    <a:pt x="56761" y="12447"/>
                    <a:pt x="86811" y="0"/>
                    <a:pt x="1181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2"/>
            <p:cNvSpPr txBox="1"/>
            <p:nvPr/>
          </p:nvSpPr>
          <p:spPr>
            <a:xfrm>
              <a:off x="0" y="-47625"/>
              <a:ext cx="236291" cy="6227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7" name="Google Shape;107;p2"/>
          <p:cNvGrpSpPr/>
          <p:nvPr/>
        </p:nvGrpSpPr>
        <p:grpSpPr>
          <a:xfrm>
            <a:off x="7509504" y="2224789"/>
            <a:ext cx="4856098" cy="6528106"/>
            <a:chOff x="0" y="0"/>
            <a:chExt cx="3662687" cy="4923790"/>
          </a:xfrm>
        </p:grpSpPr>
        <p:sp>
          <p:nvSpPr>
            <p:cNvPr id="108" name="Google Shape;108;p2"/>
            <p:cNvSpPr/>
            <p:nvPr/>
          </p:nvSpPr>
          <p:spPr>
            <a:xfrm>
              <a:off x="31750" y="31750"/>
              <a:ext cx="3600450" cy="4859020"/>
            </a:xfrm>
            <a:custGeom>
              <a:rect b="b" l="l" r="r" t="t"/>
              <a:pathLst>
                <a:path extrusionOk="0" h="4859020" w="360045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-18138" r="-18138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0" y="0"/>
              <a:ext cx="3662687" cy="4923790"/>
            </a:xfrm>
            <a:custGeom>
              <a:rect b="b" l="l" r="r" t="t"/>
              <a:pathLst>
                <a:path extrusionOk="0" h="4923790" w="3662687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" name="Google Shape;110;p2"/>
          <p:cNvGrpSpPr/>
          <p:nvPr/>
        </p:nvGrpSpPr>
        <p:grpSpPr>
          <a:xfrm>
            <a:off x="12862577" y="2215264"/>
            <a:ext cx="4856098" cy="6528106"/>
            <a:chOff x="0" y="0"/>
            <a:chExt cx="3662687" cy="4923790"/>
          </a:xfrm>
        </p:grpSpPr>
        <p:sp>
          <p:nvSpPr>
            <p:cNvPr id="111" name="Google Shape;111;p2"/>
            <p:cNvSpPr/>
            <p:nvPr/>
          </p:nvSpPr>
          <p:spPr>
            <a:xfrm>
              <a:off x="31750" y="31750"/>
              <a:ext cx="3600450" cy="4859020"/>
            </a:xfrm>
            <a:custGeom>
              <a:rect b="b" l="l" r="r" t="t"/>
              <a:pathLst>
                <a:path extrusionOk="0" h="4859020" w="360045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-43219" l="-978" r="-977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0" y="0"/>
              <a:ext cx="3662687" cy="4923790"/>
            </a:xfrm>
            <a:custGeom>
              <a:rect b="b" l="l" r="r" t="t"/>
              <a:pathLst>
                <a:path extrusionOk="0" h="4923790" w="3662687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3" name="Google Shape;113;p2"/>
          <p:cNvSpPr txBox="1"/>
          <p:nvPr/>
        </p:nvSpPr>
        <p:spPr>
          <a:xfrm>
            <a:off x="328767" y="1666699"/>
            <a:ext cx="6463941" cy="79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708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LA VULCA BOULDER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709411" y="942975"/>
            <a:ext cx="4842085" cy="7702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551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INTRODUCCIÓN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482823" y="3385429"/>
            <a:ext cx="5861162" cy="7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Gimnasio familiar, prestra servicios como escalada libre, clases grupales y cafeteria</a:t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709411" y="5426930"/>
            <a:ext cx="5634574" cy="1117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No es el unico negocio de los dueños, por lo que falta tiempo para responder las redes sociales. 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709411" y="6818010"/>
            <a:ext cx="5634574" cy="1489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 traves de las redes llegan dudas sobre los servicios que ofrecen, tambien es el canal que usa la gente para demostrar interes por las clases grupales.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23" name="Google Shape;123;p3"/>
          <p:cNvGrpSpPr/>
          <p:nvPr/>
        </p:nvGrpSpPr>
        <p:grpSpPr>
          <a:xfrm>
            <a:off x="0" y="-179902"/>
            <a:ext cx="6379957" cy="10467826"/>
            <a:chOff x="0" y="-47625"/>
            <a:chExt cx="1680318" cy="2756958"/>
          </a:xfrm>
        </p:grpSpPr>
        <p:sp>
          <p:nvSpPr>
            <p:cNvPr id="124" name="Google Shape;124;p3"/>
            <p:cNvSpPr/>
            <p:nvPr/>
          </p:nvSpPr>
          <p:spPr>
            <a:xfrm>
              <a:off x="0" y="0"/>
              <a:ext cx="1680318" cy="2709333"/>
            </a:xfrm>
            <a:custGeom>
              <a:rect b="b" l="l" r="r" t="t"/>
              <a:pathLst>
                <a:path extrusionOk="0" h="2709333" w="1680318">
                  <a:moveTo>
                    <a:pt x="0" y="0"/>
                  </a:moveTo>
                  <a:lnTo>
                    <a:pt x="1680318" y="0"/>
                  </a:lnTo>
                  <a:lnTo>
                    <a:pt x="1680318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</p:sp>
        <p:sp>
          <p:nvSpPr>
            <p:cNvPr id="125" name="Google Shape;125;p3"/>
            <p:cNvSpPr txBox="1"/>
            <p:nvPr/>
          </p:nvSpPr>
          <p:spPr>
            <a:xfrm>
              <a:off x="0" y="-47625"/>
              <a:ext cx="1680318" cy="275695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6" name="Google Shape;126;p3"/>
          <p:cNvGrpSpPr/>
          <p:nvPr/>
        </p:nvGrpSpPr>
        <p:grpSpPr>
          <a:xfrm>
            <a:off x="5867132" y="1607677"/>
            <a:ext cx="1868266" cy="1868266"/>
            <a:chOff x="0" y="0"/>
            <a:chExt cx="812800" cy="812800"/>
          </a:xfrm>
        </p:grpSpPr>
        <p:sp>
          <p:nvSpPr>
            <p:cNvPr id="127" name="Google Shape;127;p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9" name="Google Shape;129;p3"/>
          <p:cNvGrpSpPr/>
          <p:nvPr/>
        </p:nvGrpSpPr>
        <p:grpSpPr>
          <a:xfrm>
            <a:off x="5867132" y="4211215"/>
            <a:ext cx="1868266" cy="1868266"/>
            <a:chOff x="0" y="0"/>
            <a:chExt cx="812800" cy="812800"/>
          </a:xfrm>
        </p:grpSpPr>
        <p:sp>
          <p:nvSpPr>
            <p:cNvPr id="130" name="Google Shape;130;p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2" name="Google Shape;132;p3"/>
          <p:cNvGrpSpPr/>
          <p:nvPr/>
        </p:nvGrpSpPr>
        <p:grpSpPr>
          <a:xfrm>
            <a:off x="5867132" y="6812906"/>
            <a:ext cx="1868266" cy="1868266"/>
            <a:chOff x="0" y="0"/>
            <a:chExt cx="812800" cy="812800"/>
          </a:xfrm>
        </p:grpSpPr>
        <p:sp>
          <p:nvSpPr>
            <p:cNvPr id="133" name="Google Shape;133;p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5" name="Google Shape;135;p3"/>
          <p:cNvGrpSpPr/>
          <p:nvPr/>
        </p:nvGrpSpPr>
        <p:grpSpPr>
          <a:xfrm>
            <a:off x="17487034" y="1551251"/>
            <a:ext cx="1601933" cy="6647485"/>
            <a:chOff x="0" y="-47625"/>
            <a:chExt cx="421908" cy="1750778"/>
          </a:xfrm>
        </p:grpSpPr>
        <p:sp>
          <p:nvSpPr>
            <p:cNvPr id="136" name="Google Shape;136;p3"/>
            <p:cNvSpPr/>
            <p:nvPr/>
          </p:nvSpPr>
          <p:spPr>
            <a:xfrm>
              <a:off x="0" y="0"/>
              <a:ext cx="421908" cy="1703153"/>
            </a:xfrm>
            <a:custGeom>
              <a:rect b="b" l="l" r="r" t="t"/>
              <a:pathLst>
                <a:path extrusionOk="0" h="1703153" w="421908">
                  <a:moveTo>
                    <a:pt x="210954" y="0"/>
                  </a:moveTo>
                  <a:lnTo>
                    <a:pt x="210954" y="0"/>
                  </a:lnTo>
                  <a:cubicBezTo>
                    <a:pt x="266903" y="0"/>
                    <a:pt x="320560" y="22225"/>
                    <a:pt x="360121" y="61787"/>
                  </a:cubicBezTo>
                  <a:cubicBezTo>
                    <a:pt x="399683" y="101349"/>
                    <a:pt x="421908" y="155006"/>
                    <a:pt x="421908" y="210954"/>
                  </a:cubicBezTo>
                  <a:lnTo>
                    <a:pt x="421908" y="1492199"/>
                  </a:lnTo>
                  <a:cubicBezTo>
                    <a:pt x="421908" y="1548147"/>
                    <a:pt x="399683" y="1601804"/>
                    <a:pt x="360121" y="1641366"/>
                  </a:cubicBezTo>
                  <a:cubicBezTo>
                    <a:pt x="320560" y="1680928"/>
                    <a:pt x="266903" y="1703153"/>
                    <a:pt x="210954" y="1703153"/>
                  </a:cubicBezTo>
                  <a:lnTo>
                    <a:pt x="210954" y="1703153"/>
                  </a:lnTo>
                  <a:cubicBezTo>
                    <a:pt x="155006" y="1703153"/>
                    <a:pt x="101349" y="1680928"/>
                    <a:pt x="61787" y="1641366"/>
                  </a:cubicBezTo>
                  <a:cubicBezTo>
                    <a:pt x="22225" y="1601804"/>
                    <a:pt x="0" y="1548147"/>
                    <a:pt x="0" y="1492199"/>
                  </a:cubicBezTo>
                  <a:lnTo>
                    <a:pt x="0" y="210954"/>
                  </a:lnTo>
                  <a:cubicBezTo>
                    <a:pt x="0" y="155006"/>
                    <a:pt x="22225" y="101349"/>
                    <a:pt x="61787" y="61787"/>
                  </a:cubicBezTo>
                  <a:cubicBezTo>
                    <a:pt x="101349" y="22225"/>
                    <a:pt x="155006" y="0"/>
                    <a:pt x="210954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3"/>
            <p:cNvSpPr txBox="1"/>
            <p:nvPr/>
          </p:nvSpPr>
          <p:spPr>
            <a:xfrm>
              <a:off x="0" y="-47625"/>
              <a:ext cx="421908" cy="175077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8" name="Google Shape;138;p3"/>
          <p:cNvSpPr txBox="1"/>
          <p:nvPr/>
        </p:nvSpPr>
        <p:spPr>
          <a:xfrm>
            <a:off x="-332329" y="3339336"/>
            <a:ext cx="5508835" cy="7702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551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RELEVANCIA DEL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933126" y="4169620"/>
            <a:ext cx="4243380" cy="79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708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PROYECTO</a:t>
            </a:r>
            <a:endParaRPr/>
          </a:p>
        </p:txBody>
      </p:sp>
      <p:sp>
        <p:nvSpPr>
          <p:cNvPr id="140" name="Google Shape;140;p3"/>
          <p:cNvSpPr txBox="1"/>
          <p:nvPr/>
        </p:nvSpPr>
        <p:spPr>
          <a:xfrm>
            <a:off x="5981847" y="1902396"/>
            <a:ext cx="1638836" cy="1335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858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</a:t>
            </a:r>
            <a:endParaRPr/>
          </a:p>
        </p:txBody>
      </p:sp>
      <p:sp>
        <p:nvSpPr>
          <p:cNvPr id="141" name="Google Shape;141;p3"/>
          <p:cNvSpPr txBox="1"/>
          <p:nvPr/>
        </p:nvSpPr>
        <p:spPr>
          <a:xfrm>
            <a:off x="5981847" y="4496409"/>
            <a:ext cx="1638836" cy="1335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58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/>
          </a:p>
        </p:txBody>
      </p:sp>
      <p:sp>
        <p:nvSpPr>
          <p:cNvPr id="142" name="Google Shape;142;p3"/>
          <p:cNvSpPr txBox="1"/>
          <p:nvPr/>
        </p:nvSpPr>
        <p:spPr>
          <a:xfrm>
            <a:off x="5981847" y="7098656"/>
            <a:ext cx="1638836" cy="1335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858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3</a:t>
            </a:r>
            <a:endParaRPr/>
          </a:p>
        </p:txBody>
      </p:sp>
      <p:sp>
        <p:nvSpPr>
          <p:cNvPr id="143" name="Google Shape;143;p3"/>
          <p:cNvSpPr txBox="1"/>
          <p:nvPr/>
        </p:nvSpPr>
        <p:spPr>
          <a:xfrm>
            <a:off x="7927222" y="2085113"/>
            <a:ext cx="8108504" cy="843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99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Automatización de tareas en empresas pequeñas.</a:t>
            </a:r>
            <a:endParaRPr/>
          </a:p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99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Impacto directo en eficiencia operativa.</a:t>
            </a:r>
            <a:endParaRPr/>
          </a:p>
        </p:txBody>
      </p:sp>
      <p:sp>
        <p:nvSpPr>
          <p:cNvPr id="144" name="Google Shape;144;p3"/>
          <p:cNvSpPr txBox="1"/>
          <p:nvPr/>
        </p:nvSpPr>
        <p:spPr>
          <a:xfrm>
            <a:off x="7927222" y="4897750"/>
            <a:ext cx="8742950" cy="42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99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Uso de IA + Automatización como tendencia profesional.</a:t>
            </a:r>
            <a:endParaRPr/>
          </a:p>
        </p:txBody>
      </p:sp>
      <p:sp>
        <p:nvSpPr>
          <p:cNvPr id="145" name="Google Shape;145;p3"/>
          <p:cNvSpPr txBox="1"/>
          <p:nvPr/>
        </p:nvSpPr>
        <p:spPr>
          <a:xfrm>
            <a:off x="7927222" y="7082188"/>
            <a:ext cx="8742950" cy="1263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99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Cómo este proyecto aporta valor real al negocio.</a:t>
            </a:r>
            <a:endParaRPr/>
          </a:p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99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Cómo es replicable en otras operaciones de escala pequeña.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4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1" name="Google Shape;151;p4"/>
          <p:cNvSpPr txBox="1"/>
          <p:nvPr/>
        </p:nvSpPr>
        <p:spPr>
          <a:xfrm>
            <a:off x="5676618" y="1791504"/>
            <a:ext cx="6756386" cy="9672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672" u="none" cap="none" strike="noStrike">
                <a:solidFill>
                  <a:srgbClr val="004AAD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GENERAL</a:t>
            </a:r>
            <a:endParaRPr/>
          </a:p>
        </p:txBody>
      </p:sp>
      <p:sp>
        <p:nvSpPr>
          <p:cNvPr id="152" name="Google Shape;152;p4"/>
          <p:cNvSpPr txBox="1"/>
          <p:nvPr/>
        </p:nvSpPr>
        <p:spPr>
          <a:xfrm>
            <a:off x="6118918" y="1116794"/>
            <a:ext cx="5871786" cy="6242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39" u="none" cap="none" strike="noStrike">
                <a:solidFill>
                  <a:srgbClr val="303642"/>
                </a:solidFill>
                <a:latin typeface="Roboto"/>
                <a:ea typeface="Roboto"/>
                <a:cs typeface="Roboto"/>
                <a:sym typeface="Roboto"/>
              </a:rPr>
              <a:t>OBJETIVOS:</a:t>
            </a:r>
            <a:endParaRPr/>
          </a:p>
        </p:txBody>
      </p:sp>
      <p:sp>
        <p:nvSpPr>
          <p:cNvPr id="153" name="Google Shape;153;p4"/>
          <p:cNvSpPr txBox="1"/>
          <p:nvPr/>
        </p:nvSpPr>
        <p:spPr>
          <a:xfrm>
            <a:off x="4577695" y="2844487"/>
            <a:ext cx="9132610" cy="400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19" u="none" cap="none" strike="noStrike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Automatizar la atención al cliente mediante chatbot integrado</a:t>
            </a:r>
            <a:endParaRPr/>
          </a:p>
        </p:txBody>
      </p:sp>
      <p:grpSp>
        <p:nvGrpSpPr>
          <p:cNvPr id="154" name="Google Shape;154;p4"/>
          <p:cNvGrpSpPr/>
          <p:nvPr/>
        </p:nvGrpSpPr>
        <p:grpSpPr>
          <a:xfrm>
            <a:off x="-576857" y="6241929"/>
            <a:ext cx="19263335" cy="1785509"/>
            <a:chOff x="0" y="-47625"/>
            <a:chExt cx="5073471" cy="470258"/>
          </a:xfrm>
        </p:grpSpPr>
        <p:sp>
          <p:nvSpPr>
            <p:cNvPr id="155" name="Google Shape;155;p4"/>
            <p:cNvSpPr/>
            <p:nvPr/>
          </p:nvSpPr>
          <p:spPr>
            <a:xfrm>
              <a:off x="0" y="0"/>
              <a:ext cx="5073471" cy="422633"/>
            </a:xfrm>
            <a:custGeom>
              <a:rect b="b" l="l" r="r" t="t"/>
              <a:pathLst>
                <a:path extrusionOk="0" h="422633" w="5073471">
                  <a:moveTo>
                    <a:pt x="20497" y="0"/>
                  </a:moveTo>
                  <a:lnTo>
                    <a:pt x="5052974" y="0"/>
                  </a:lnTo>
                  <a:cubicBezTo>
                    <a:pt x="5058410" y="0"/>
                    <a:pt x="5063623" y="2159"/>
                    <a:pt x="5067467" y="6003"/>
                  </a:cubicBezTo>
                  <a:cubicBezTo>
                    <a:pt x="5071311" y="9847"/>
                    <a:pt x="5073471" y="15061"/>
                    <a:pt x="5073471" y="20497"/>
                  </a:cubicBezTo>
                  <a:lnTo>
                    <a:pt x="5073471" y="402136"/>
                  </a:lnTo>
                  <a:cubicBezTo>
                    <a:pt x="5073471" y="407572"/>
                    <a:pt x="5071311" y="412785"/>
                    <a:pt x="5067467" y="416629"/>
                  </a:cubicBezTo>
                  <a:cubicBezTo>
                    <a:pt x="5063623" y="420473"/>
                    <a:pt x="5058410" y="422633"/>
                    <a:pt x="5052974" y="422633"/>
                  </a:cubicBezTo>
                  <a:lnTo>
                    <a:pt x="20497" y="422633"/>
                  </a:lnTo>
                  <a:cubicBezTo>
                    <a:pt x="15061" y="422633"/>
                    <a:pt x="9847" y="420473"/>
                    <a:pt x="6003" y="416629"/>
                  </a:cubicBezTo>
                  <a:cubicBezTo>
                    <a:pt x="2159" y="412785"/>
                    <a:pt x="0" y="407572"/>
                    <a:pt x="0" y="402136"/>
                  </a:cubicBezTo>
                  <a:lnTo>
                    <a:pt x="0" y="20497"/>
                  </a:lnTo>
                  <a:cubicBezTo>
                    <a:pt x="0" y="15061"/>
                    <a:pt x="2159" y="9847"/>
                    <a:pt x="6003" y="6003"/>
                  </a:cubicBezTo>
                  <a:cubicBezTo>
                    <a:pt x="9847" y="2159"/>
                    <a:pt x="15061" y="0"/>
                    <a:pt x="20497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4"/>
            <p:cNvSpPr txBox="1"/>
            <p:nvPr/>
          </p:nvSpPr>
          <p:spPr>
            <a:xfrm>
              <a:off x="0" y="-47625"/>
              <a:ext cx="5073471" cy="47025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7" name="Google Shape;157;p4"/>
          <p:cNvSpPr txBox="1"/>
          <p:nvPr/>
        </p:nvSpPr>
        <p:spPr>
          <a:xfrm>
            <a:off x="1721164" y="6600825"/>
            <a:ext cx="4882054" cy="11818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39623" lvl="1" marL="479247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19"/>
              <a:buFont typeface="Arial"/>
              <a:buChar char="•"/>
            </a:pPr>
            <a:r>
              <a:rPr b="0" i="0" lang="en-US" sz="2219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Levantamiento del proceso actual</a:t>
            </a:r>
            <a:endParaRPr/>
          </a:p>
          <a:p>
            <a:pPr indent="-239623" lvl="1" marL="479247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19"/>
              <a:buFont typeface="Arial"/>
              <a:buChar char="•"/>
            </a:pPr>
            <a:r>
              <a:rPr b="0" i="0" lang="en-US" sz="2219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Definición de requisitos y KPIs</a:t>
            </a:r>
            <a:endParaRPr/>
          </a:p>
        </p:txBody>
      </p:sp>
      <p:sp>
        <p:nvSpPr>
          <p:cNvPr id="158" name="Google Shape;158;p4"/>
          <p:cNvSpPr txBox="1"/>
          <p:nvPr/>
        </p:nvSpPr>
        <p:spPr>
          <a:xfrm>
            <a:off x="6977956" y="6600825"/>
            <a:ext cx="5229489" cy="11818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39623" lvl="1" marL="479247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19"/>
              <a:buFont typeface="Arial"/>
              <a:buChar char="•"/>
            </a:pPr>
            <a:r>
              <a:rPr b="0" i="0" lang="en-US" sz="2219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Diseño del chatbot</a:t>
            </a:r>
            <a:endParaRPr/>
          </a:p>
          <a:p>
            <a:pPr indent="-239623" lvl="1" marL="479247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19"/>
              <a:buFont typeface="Arial"/>
              <a:buChar char="•"/>
            </a:pPr>
            <a:r>
              <a:rPr b="0" i="0" lang="en-US" sz="2219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Integración con Whatsapp, Google Sheets, Google Docs</a:t>
            </a:r>
            <a:endParaRPr/>
          </a:p>
        </p:txBody>
      </p:sp>
      <p:sp>
        <p:nvSpPr>
          <p:cNvPr id="159" name="Google Shape;159;p4"/>
          <p:cNvSpPr txBox="1"/>
          <p:nvPr/>
        </p:nvSpPr>
        <p:spPr>
          <a:xfrm>
            <a:off x="12578920" y="6600825"/>
            <a:ext cx="3809538" cy="7913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39623" lvl="1" marL="479247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19"/>
              <a:buFont typeface="Arial"/>
              <a:buChar char="•"/>
            </a:pPr>
            <a:r>
              <a:rPr b="0" i="0" lang="en-US" sz="2219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Pruebas y validación</a:t>
            </a:r>
            <a:endParaRPr/>
          </a:p>
          <a:p>
            <a:pPr indent="-239623" lvl="1" marL="479247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19"/>
              <a:buFont typeface="Arial"/>
              <a:buChar char="•"/>
            </a:pPr>
            <a:r>
              <a:rPr b="0" i="0" lang="en-US" sz="2219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Medición de imapcto</a:t>
            </a:r>
            <a:endParaRPr/>
          </a:p>
        </p:txBody>
      </p:sp>
      <p:sp>
        <p:nvSpPr>
          <p:cNvPr id="160" name="Google Shape;160;p4"/>
          <p:cNvSpPr txBox="1"/>
          <p:nvPr/>
        </p:nvSpPr>
        <p:spPr>
          <a:xfrm>
            <a:off x="5765807" y="4176241"/>
            <a:ext cx="6756386" cy="9672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672" u="none" cap="none" strike="noStrike">
                <a:solidFill>
                  <a:srgbClr val="004AAD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ESPECÍFICOS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5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66" name="Google Shape;166;p5"/>
          <p:cNvGrpSpPr/>
          <p:nvPr/>
        </p:nvGrpSpPr>
        <p:grpSpPr>
          <a:xfrm>
            <a:off x="-257175" y="4321424"/>
            <a:ext cx="18802350" cy="2187426"/>
            <a:chOff x="0" y="-47625"/>
            <a:chExt cx="4952059" cy="576112"/>
          </a:xfrm>
        </p:grpSpPr>
        <p:sp>
          <p:nvSpPr>
            <p:cNvPr id="167" name="Google Shape;167;p5"/>
            <p:cNvSpPr/>
            <p:nvPr/>
          </p:nvSpPr>
          <p:spPr>
            <a:xfrm>
              <a:off x="0" y="0"/>
              <a:ext cx="4952059" cy="528487"/>
            </a:xfrm>
            <a:custGeom>
              <a:rect b="b" l="l" r="r" t="t"/>
              <a:pathLst>
                <a:path extrusionOk="0" h="528487" w="4952059">
                  <a:moveTo>
                    <a:pt x="20999" y="0"/>
                  </a:moveTo>
                  <a:lnTo>
                    <a:pt x="4931060" y="0"/>
                  </a:lnTo>
                  <a:cubicBezTo>
                    <a:pt x="4936629" y="0"/>
                    <a:pt x="4941970" y="2212"/>
                    <a:pt x="4945909" y="6151"/>
                  </a:cubicBezTo>
                  <a:cubicBezTo>
                    <a:pt x="4949847" y="10089"/>
                    <a:pt x="4952059" y="15430"/>
                    <a:pt x="4952059" y="20999"/>
                  </a:cubicBezTo>
                  <a:lnTo>
                    <a:pt x="4952059" y="507488"/>
                  </a:lnTo>
                  <a:cubicBezTo>
                    <a:pt x="4952059" y="519086"/>
                    <a:pt x="4942658" y="528487"/>
                    <a:pt x="4931060" y="528487"/>
                  </a:cubicBezTo>
                  <a:lnTo>
                    <a:pt x="20999" y="528487"/>
                  </a:lnTo>
                  <a:cubicBezTo>
                    <a:pt x="15430" y="528487"/>
                    <a:pt x="10089" y="526275"/>
                    <a:pt x="6151" y="522337"/>
                  </a:cubicBezTo>
                  <a:cubicBezTo>
                    <a:pt x="2212" y="518399"/>
                    <a:pt x="0" y="513057"/>
                    <a:pt x="0" y="507488"/>
                  </a:cubicBezTo>
                  <a:lnTo>
                    <a:pt x="0" y="20999"/>
                  </a:lnTo>
                  <a:cubicBezTo>
                    <a:pt x="0" y="15430"/>
                    <a:pt x="2212" y="10089"/>
                    <a:pt x="6151" y="6151"/>
                  </a:cubicBezTo>
                  <a:cubicBezTo>
                    <a:pt x="10089" y="2212"/>
                    <a:pt x="15430" y="0"/>
                    <a:pt x="20999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5"/>
            <p:cNvSpPr txBox="1"/>
            <p:nvPr/>
          </p:nvSpPr>
          <p:spPr>
            <a:xfrm>
              <a:off x="0" y="-47625"/>
              <a:ext cx="4952059" cy="5761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9" name="Google Shape;169;p5"/>
          <p:cNvSpPr txBox="1"/>
          <p:nvPr/>
        </p:nvSpPr>
        <p:spPr>
          <a:xfrm>
            <a:off x="5765807" y="1884385"/>
            <a:ext cx="6756386" cy="9672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672" u="none" cap="none" strike="noStrike">
                <a:solidFill>
                  <a:srgbClr val="004AAD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METODOLOGÍA</a:t>
            </a:r>
            <a:endParaRPr/>
          </a:p>
        </p:txBody>
      </p:sp>
      <p:sp>
        <p:nvSpPr>
          <p:cNvPr id="170" name="Google Shape;170;p5"/>
          <p:cNvSpPr txBox="1"/>
          <p:nvPr/>
        </p:nvSpPr>
        <p:spPr>
          <a:xfrm>
            <a:off x="5071087" y="2794493"/>
            <a:ext cx="8145827" cy="400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19" u="none" cap="none" strike="noStrike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Ágil: Scrum simplificado</a:t>
            </a:r>
            <a:endParaRPr/>
          </a:p>
        </p:txBody>
      </p:sp>
      <p:sp>
        <p:nvSpPr>
          <p:cNvPr id="171" name="Google Shape;171;p5"/>
          <p:cNvSpPr txBox="1"/>
          <p:nvPr/>
        </p:nvSpPr>
        <p:spPr>
          <a:xfrm>
            <a:off x="1028700" y="4972747"/>
            <a:ext cx="4789577" cy="9608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672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REUNIONES</a:t>
            </a:r>
            <a:endParaRPr/>
          </a:p>
        </p:txBody>
      </p:sp>
      <p:sp>
        <p:nvSpPr>
          <p:cNvPr id="172" name="Google Shape;172;p5"/>
          <p:cNvSpPr txBox="1"/>
          <p:nvPr/>
        </p:nvSpPr>
        <p:spPr>
          <a:xfrm>
            <a:off x="6292606" y="4972747"/>
            <a:ext cx="5702788" cy="9608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672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ITERACIONES</a:t>
            </a:r>
            <a:endParaRPr/>
          </a:p>
        </p:txBody>
      </p:sp>
      <p:sp>
        <p:nvSpPr>
          <p:cNvPr id="173" name="Google Shape;173;p5"/>
          <p:cNvSpPr txBox="1"/>
          <p:nvPr/>
        </p:nvSpPr>
        <p:spPr>
          <a:xfrm>
            <a:off x="12263214" y="4547894"/>
            <a:ext cx="5514658" cy="19609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672" u="none" cap="none" strike="noStrike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CAMBIOS DE ESTRATEGIA</a:t>
            </a:r>
            <a:endParaRPr/>
          </a:p>
        </p:txBody>
      </p:sp>
      <p:sp>
        <p:nvSpPr>
          <p:cNvPr id="174" name="Google Shape;174;p5"/>
          <p:cNvSpPr txBox="1"/>
          <p:nvPr/>
        </p:nvSpPr>
        <p:spPr>
          <a:xfrm>
            <a:off x="1299685" y="7356575"/>
            <a:ext cx="4247608" cy="1182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19" u="none" cap="none" strike="noStrike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Entender los procesos y tareas que estas automatizando es clave.</a:t>
            </a:r>
            <a:endParaRPr/>
          </a:p>
        </p:txBody>
      </p:sp>
      <p:sp>
        <p:nvSpPr>
          <p:cNvPr id="175" name="Google Shape;175;p5"/>
          <p:cNvSpPr txBox="1"/>
          <p:nvPr/>
        </p:nvSpPr>
        <p:spPr>
          <a:xfrm>
            <a:off x="7020196" y="7356575"/>
            <a:ext cx="4247608" cy="1182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19" u="none" cap="none" strike="noStrike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Validar el progreso te permite desarrollar la solución que espera el cliente.</a:t>
            </a:r>
            <a:endParaRPr/>
          </a:p>
        </p:txBody>
      </p:sp>
      <p:sp>
        <p:nvSpPr>
          <p:cNvPr id="176" name="Google Shape;176;p5"/>
          <p:cNvSpPr txBox="1"/>
          <p:nvPr/>
        </p:nvSpPr>
        <p:spPr>
          <a:xfrm>
            <a:off x="12896739" y="7356575"/>
            <a:ext cx="4247608" cy="15726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19" u="none" cap="none" strike="noStrike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Tener la flexibilidad para hacer cambios drasticos en la solución, por ejemplo cambiar de plataforma.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82" name="Google Shape;182;p6"/>
          <p:cNvGrpSpPr/>
          <p:nvPr/>
        </p:nvGrpSpPr>
        <p:grpSpPr>
          <a:xfrm>
            <a:off x="-512097" y="8817125"/>
            <a:ext cx="2514600" cy="441175"/>
            <a:chOff x="0" y="-47625"/>
            <a:chExt cx="662281" cy="116195"/>
          </a:xfrm>
        </p:grpSpPr>
        <p:sp>
          <p:nvSpPr>
            <p:cNvPr id="183" name="Google Shape;183;p6"/>
            <p:cNvSpPr/>
            <p:nvPr/>
          </p:nvSpPr>
          <p:spPr>
            <a:xfrm>
              <a:off x="0" y="0"/>
              <a:ext cx="662281" cy="68570"/>
            </a:xfrm>
            <a:custGeom>
              <a:rect b="b" l="l" r="r" t="t"/>
              <a:pathLst>
                <a:path extrusionOk="0"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</p:sp>
        <p:sp>
          <p:nvSpPr>
            <p:cNvPr id="184" name="Google Shape;184;p6"/>
            <p:cNvSpPr txBox="1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5" name="Google Shape;185;p6"/>
          <p:cNvSpPr/>
          <p:nvPr/>
        </p:nvSpPr>
        <p:spPr>
          <a:xfrm>
            <a:off x="3219111" y="1301284"/>
            <a:ext cx="11849778" cy="8522495"/>
          </a:xfrm>
          <a:custGeom>
            <a:rect b="b" l="l" r="r" t="t"/>
            <a:pathLst>
              <a:path extrusionOk="0" h="8522495" w="11849778">
                <a:moveTo>
                  <a:pt x="0" y="0"/>
                </a:moveTo>
                <a:lnTo>
                  <a:pt x="11849778" y="0"/>
                </a:lnTo>
                <a:lnTo>
                  <a:pt x="11849778" y="8522495"/>
                </a:lnTo>
                <a:lnTo>
                  <a:pt x="0" y="852249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1348" l="0" r="0" t="-1348"/>
            </a:stretch>
          </a:blipFill>
          <a:ln>
            <a:noFill/>
          </a:ln>
        </p:spPr>
      </p:sp>
      <p:sp>
        <p:nvSpPr>
          <p:cNvPr id="186" name="Google Shape;186;p6"/>
          <p:cNvSpPr txBox="1"/>
          <p:nvPr/>
        </p:nvSpPr>
        <p:spPr>
          <a:xfrm>
            <a:off x="383214" y="1019027"/>
            <a:ext cx="4243380" cy="912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308" u="none" cap="none" strike="noStrike">
                <a:solidFill>
                  <a:srgbClr val="004AAD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AS - IS</a:t>
            </a:r>
            <a:endParaRPr/>
          </a:p>
        </p:txBody>
      </p:sp>
      <p:sp>
        <p:nvSpPr>
          <p:cNvPr id="187" name="Google Shape;187;p6"/>
          <p:cNvSpPr txBox="1"/>
          <p:nvPr/>
        </p:nvSpPr>
        <p:spPr>
          <a:xfrm>
            <a:off x="383214" y="252243"/>
            <a:ext cx="6987117" cy="8978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151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ANÁLISIS DE PROCESO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93" name="Google Shape;193;p7"/>
          <p:cNvGrpSpPr/>
          <p:nvPr/>
        </p:nvGrpSpPr>
        <p:grpSpPr>
          <a:xfrm>
            <a:off x="-512097" y="8817125"/>
            <a:ext cx="2514600" cy="441175"/>
            <a:chOff x="0" y="-47625"/>
            <a:chExt cx="662281" cy="116195"/>
          </a:xfrm>
        </p:grpSpPr>
        <p:sp>
          <p:nvSpPr>
            <p:cNvPr id="194" name="Google Shape;194;p7"/>
            <p:cNvSpPr/>
            <p:nvPr/>
          </p:nvSpPr>
          <p:spPr>
            <a:xfrm>
              <a:off x="0" y="0"/>
              <a:ext cx="662281" cy="68570"/>
            </a:xfrm>
            <a:custGeom>
              <a:rect b="b" l="l" r="r" t="t"/>
              <a:pathLst>
                <a:path extrusionOk="0"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</p:sp>
        <p:sp>
          <p:nvSpPr>
            <p:cNvPr id="195" name="Google Shape;195;p7"/>
            <p:cNvSpPr txBox="1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6" name="Google Shape;196;p7"/>
          <p:cNvSpPr/>
          <p:nvPr/>
        </p:nvSpPr>
        <p:spPr>
          <a:xfrm>
            <a:off x="524305" y="2125087"/>
            <a:ext cx="17239390" cy="6270828"/>
          </a:xfrm>
          <a:custGeom>
            <a:rect b="b" l="l" r="r" t="t"/>
            <a:pathLst>
              <a:path extrusionOk="0" h="6270828" w="17239390">
                <a:moveTo>
                  <a:pt x="0" y="0"/>
                </a:moveTo>
                <a:lnTo>
                  <a:pt x="17239390" y="0"/>
                </a:lnTo>
                <a:lnTo>
                  <a:pt x="17239390" y="6270828"/>
                </a:lnTo>
                <a:lnTo>
                  <a:pt x="0" y="62708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7" name="Google Shape;197;p7"/>
          <p:cNvSpPr txBox="1"/>
          <p:nvPr/>
        </p:nvSpPr>
        <p:spPr>
          <a:xfrm>
            <a:off x="383214" y="1019027"/>
            <a:ext cx="4243380" cy="912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308" u="none" cap="none" strike="noStrike">
                <a:solidFill>
                  <a:srgbClr val="004AAD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TO - BE</a:t>
            </a:r>
            <a:endParaRPr/>
          </a:p>
        </p:txBody>
      </p:sp>
      <p:sp>
        <p:nvSpPr>
          <p:cNvPr id="198" name="Google Shape;198;p7"/>
          <p:cNvSpPr txBox="1"/>
          <p:nvPr/>
        </p:nvSpPr>
        <p:spPr>
          <a:xfrm>
            <a:off x="383214" y="252243"/>
            <a:ext cx="6987117" cy="8978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151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PROCESO PROPUESTO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8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04" name="Google Shape;204;p8"/>
          <p:cNvGrpSpPr/>
          <p:nvPr/>
        </p:nvGrpSpPr>
        <p:grpSpPr>
          <a:xfrm>
            <a:off x="1930725" y="3826950"/>
            <a:ext cx="14672775" cy="4766700"/>
            <a:chOff x="0" y="0"/>
            <a:chExt cx="19235415" cy="6355600"/>
          </a:xfrm>
        </p:grpSpPr>
        <p:sp>
          <p:nvSpPr>
            <p:cNvPr id="205" name="Google Shape;205;p8"/>
            <p:cNvSpPr/>
            <p:nvPr/>
          </p:nvSpPr>
          <p:spPr>
            <a:xfrm>
              <a:off x="0" y="1590961"/>
              <a:ext cx="2705507" cy="2705507"/>
            </a:xfrm>
            <a:custGeom>
              <a:rect b="b" l="l" r="r" t="t"/>
              <a:pathLst>
                <a:path extrusionOk="0" h="2705507" w="2705507">
                  <a:moveTo>
                    <a:pt x="0" y="0"/>
                  </a:moveTo>
                  <a:lnTo>
                    <a:pt x="2705507" y="0"/>
                  </a:lnTo>
                  <a:lnTo>
                    <a:pt x="2705507" y="2705507"/>
                  </a:lnTo>
                  <a:lnTo>
                    <a:pt x="0" y="270550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grpSp>
          <p:nvGrpSpPr>
            <p:cNvPr id="206" name="Google Shape;206;p8"/>
            <p:cNvGrpSpPr/>
            <p:nvPr/>
          </p:nvGrpSpPr>
          <p:grpSpPr>
            <a:xfrm rot="10800000">
              <a:off x="3187018" y="2403452"/>
              <a:ext cx="1312067" cy="1080525"/>
              <a:chOff x="0" y="0"/>
              <a:chExt cx="647700" cy="533400"/>
            </a:xfrm>
          </p:grpSpPr>
          <p:sp>
            <p:nvSpPr>
              <p:cNvPr id="207" name="Google Shape;207;p8"/>
              <p:cNvSpPr/>
              <p:nvPr/>
            </p:nvSpPr>
            <p:spPr>
              <a:xfrm>
                <a:off x="0" y="0"/>
                <a:ext cx="647700" cy="533400"/>
              </a:xfrm>
              <a:custGeom>
                <a:rect b="b" l="l" r="r" t="t"/>
                <a:pathLst>
                  <a:path extrusionOk="0" h="533400" w="647700">
                    <a:moveTo>
                      <a:pt x="239386" y="166418"/>
                    </a:moveTo>
                    <a:lnTo>
                      <a:pt x="647700" y="166418"/>
                    </a:lnTo>
                    <a:lnTo>
                      <a:pt x="647700" y="366942"/>
                    </a:lnTo>
                    <a:lnTo>
                      <a:pt x="239373" y="366942"/>
                    </a:lnTo>
                    <a:lnTo>
                      <a:pt x="302255" y="533400"/>
                    </a:lnTo>
                    <a:lnTo>
                      <a:pt x="0" y="266700"/>
                    </a:lnTo>
                    <a:lnTo>
                      <a:pt x="302255" y="0"/>
                    </a:lnTo>
                    <a:lnTo>
                      <a:pt x="239386" y="1664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</p:sp>
          <p:sp>
            <p:nvSpPr>
              <p:cNvPr id="208" name="Google Shape;208;p8"/>
              <p:cNvSpPr txBox="1"/>
              <p:nvPr/>
            </p:nvSpPr>
            <p:spPr>
              <a:xfrm>
                <a:off x="120650" y="117475"/>
                <a:ext cx="527050" cy="2508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09" name="Google Shape;209;p8"/>
            <p:cNvSpPr/>
            <p:nvPr/>
          </p:nvSpPr>
          <p:spPr>
            <a:xfrm>
              <a:off x="4981685" y="2380712"/>
              <a:ext cx="3511356" cy="1126004"/>
            </a:xfrm>
            <a:custGeom>
              <a:rect b="b" l="l" r="r" t="t"/>
              <a:pathLst>
                <a:path extrusionOk="0" h="1126004" w="3511356">
                  <a:moveTo>
                    <a:pt x="0" y="0"/>
                  </a:moveTo>
                  <a:lnTo>
                    <a:pt x="3511355" y="0"/>
                  </a:lnTo>
                  <a:lnTo>
                    <a:pt x="3511355" y="1126005"/>
                  </a:lnTo>
                  <a:lnTo>
                    <a:pt x="0" y="11260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cxnSp>
          <p:nvCxnSpPr>
            <p:cNvPr id="210" name="Google Shape;210;p8"/>
            <p:cNvCxnSpPr/>
            <p:nvPr/>
          </p:nvCxnSpPr>
          <p:spPr>
            <a:xfrm>
              <a:off x="8847696" y="2969115"/>
              <a:ext cx="1465932" cy="0"/>
            </a:xfrm>
            <a:prstGeom prst="straightConnector1">
              <a:avLst/>
            </a:prstGeom>
            <a:noFill/>
            <a:ln cap="flat" cmpd="sng" w="50800">
              <a:solidFill>
                <a:srgbClr val="000000"/>
              </a:solidFill>
              <a:prstDash val="dot"/>
              <a:round/>
              <a:headEnd len="med" w="med" type="triangle"/>
              <a:tailEnd len="med" w="med" type="triangle"/>
            </a:ln>
          </p:spPr>
        </p:cxnSp>
        <p:sp>
          <p:nvSpPr>
            <p:cNvPr id="211" name="Google Shape;211;p8"/>
            <p:cNvSpPr/>
            <p:nvPr/>
          </p:nvSpPr>
          <p:spPr>
            <a:xfrm>
              <a:off x="10184216" y="1737208"/>
              <a:ext cx="2463813" cy="2463813"/>
            </a:xfrm>
            <a:custGeom>
              <a:rect b="b" l="l" r="r" t="t"/>
              <a:pathLst>
                <a:path extrusionOk="0" h="2463813" w="2463813">
                  <a:moveTo>
                    <a:pt x="0" y="0"/>
                  </a:moveTo>
                  <a:lnTo>
                    <a:pt x="2463813" y="0"/>
                  </a:lnTo>
                  <a:lnTo>
                    <a:pt x="2463813" y="2463813"/>
                  </a:lnTo>
                  <a:lnTo>
                    <a:pt x="0" y="246381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cxnSp>
          <p:nvCxnSpPr>
            <p:cNvPr id="212" name="Google Shape;212;p8"/>
            <p:cNvCxnSpPr/>
            <p:nvPr/>
          </p:nvCxnSpPr>
          <p:spPr>
            <a:xfrm flipH="1" rot="10800000">
              <a:off x="7396651" y="1124215"/>
              <a:ext cx="827343" cy="1225986"/>
            </a:xfrm>
            <a:prstGeom prst="straightConnector1">
              <a:avLst/>
            </a:prstGeom>
            <a:noFill/>
            <a:ln cap="flat" cmpd="sng" w="50800">
              <a:solidFill>
                <a:srgbClr val="000000"/>
              </a:solidFill>
              <a:prstDash val="dot"/>
              <a:round/>
              <a:headEnd len="med" w="med" type="triangle"/>
              <a:tailEnd len="med" w="med" type="triangle"/>
            </a:ln>
          </p:spPr>
        </p:cxnSp>
        <p:cxnSp>
          <p:nvCxnSpPr>
            <p:cNvPr id="213" name="Google Shape;213;p8"/>
            <p:cNvCxnSpPr/>
            <p:nvPr/>
          </p:nvCxnSpPr>
          <p:spPr>
            <a:xfrm rot="10800000">
              <a:off x="7440512" y="3675932"/>
              <a:ext cx="804537" cy="1241071"/>
            </a:xfrm>
            <a:prstGeom prst="straightConnector1">
              <a:avLst/>
            </a:prstGeom>
            <a:noFill/>
            <a:ln cap="flat" cmpd="sng" w="50800">
              <a:solidFill>
                <a:srgbClr val="000000"/>
              </a:solidFill>
              <a:prstDash val="dot"/>
              <a:round/>
              <a:headEnd len="med" w="med" type="triangle"/>
              <a:tailEnd len="med" w="med" type="triangle"/>
            </a:ln>
          </p:spPr>
        </p:cxnSp>
        <p:sp>
          <p:nvSpPr>
            <p:cNvPr id="214" name="Google Shape;214;p8"/>
            <p:cNvSpPr/>
            <p:nvPr/>
          </p:nvSpPr>
          <p:spPr>
            <a:xfrm>
              <a:off x="8493040" y="0"/>
              <a:ext cx="1396333" cy="1396333"/>
            </a:xfrm>
            <a:custGeom>
              <a:rect b="b" l="l" r="r" t="t"/>
              <a:pathLst>
                <a:path extrusionOk="0" h="1396333" w="1396333">
                  <a:moveTo>
                    <a:pt x="0" y="0"/>
                  </a:moveTo>
                  <a:lnTo>
                    <a:pt x="1396333" y="0"/>
                  </a:lnTo>
                  <a:lnTo>
                    <a:pt x="1396333" y="1396333"/>
                  </a:lnTo>
                  <a:lnTo>
                    <a:pt x="0" y="139633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215" name="Google Shape;215;p8"/>
            <p:cNvSpPr/>
            <p:nvPr/>
          </p:nvSpPr>
          <p:spPr>
            <a:xfrm>
              <a:off x="7919533" y="4090917"/>
              <a:ext cx="2264683" cy="2264683"/>
            </a:xfrm>
            <a:custGeom>
              <a:rect b="b" l="l" r="r" t="t"/>
              <a:pathLst>
                <a:path extrusionOk="0" h="2264683" w="2264683">
                  <a:moveTo>
                    <a:pt x="0" y="0"/>
                  </a:moveTo>
                  <a:lnTo>
                    <a:pt x="2264683" y="0"/>
                  </a:lnTo>
                  <a:lnTo>
                    <a:pt x="2264683" y="2264683"/>
                  </a:lnTo>
                  <a:lnTo>
                    <a:pt x="0" y="226468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grpSp>
          <p:nvGrpSpPr>
            <p:cNvPr id="216" name="Google Shape;216;p8"/>
            <p:cNvGrpSpPr/>
            <p:nvPr/>
          </p:nvGrpSpPr>
          <p:grpSpPr>
            <a:xfrm>
              <a:off x="12320329" y="2257651"/>
              <a:ext cx="4666264" cy="1422926"/>
              <a:chOff x="0" y="0"/>
              <a:chExt cx="1869859" cy="570193"/>
            </a:xfrm>
          </p:grpSpPr>
          <p:sp>
            <p:nvSpPr>
              <p:cNvPr id="217" name="Google Shape;217;p8"/>
              <p:cNvSpPr/>
              <p:nvPr/>
            </p:nvSpPr>
            <p:spPr>
              <a:xfrm>
                <a:off x="0" y="0"/>
                <a:ext cx="1869859" cy="570193"/>
              </a:xfrm>
              <a:custGeom>
                <a:rect b="b" l="l" r="r" t="t"/>
                <a:pathLst>
                  <a:path extrusionOk="0" h="570193" w="1869859">
                    <a:moveTo>
                      <a:pt x="1869859" y="285106"/>
                    </a:moveTo>
                    <a:lnTo>
                      <a:pt x="1609892" y="570193"/>
                    </a:lnTo>
                    <a:lnTo>
                      <a:pt x="1625651" y="445446"/>
                    </a:lnTo>
                    <a:lnTo>
                      <a:pt x="244208" y="445446"/>
                    </a:lnTo>
                    <a:lnTo>
                      <a:pt x="259966" y="570193"/>
                    </a:lnTo>
                    <a:lnTo>
                      <a:pt x="0" y="285106"/>
                    </a:lnTo>
                    <a:lnTo>
                      <a:pt x="259966" y="0"/>
                    </a:lnTo>
                    <a:lnTo>
                      <a:pt x="244196" y="124785"/>
                    </a:lnTo>
                    <a:lnTo>
                      <a:pt x="1625663" y="124785"/>
                    </a:lnTo>
                    <a:lnTo>
                      <a:pt x="1609892" y="0"/>
                    </a:lnTo>
                    <a:lnTo>
                      <a:pt x="1869859" y="2851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</p:sp>
          <p:sp>
            <p:nvSpPr>
              <p:cNvPr id="218" name="Google Shape;218;p8"/>
              <p:cNvSpPr txBox="1"/>
              <p:nvPr/>
            </p:nvSpPr>
            <p:spPr>
              <a:xfrm>
                <a:off x="114300" y="79375"/>
                <a:ext cx="1641259" cy="3638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4002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1899" u="none" cap="none" strike="noStrike">
                    <a:solidFill>
                      <a:srgbClr val="FFFFFF"/>
                    </a:solidFill>
                    <a:latin typeface="Archivo Black"/>
                    <a:ea typeface="Archivo Black"/>
                    <a:cs typeface="Archivo Black"/>
                    <a:sym typeface="Archivo Black"/>
                  </a:rPr>
                  <a:t>Chat con cliente</a:t>
                </a:r>
                <a:endParaRPr/>
              </a:p>
            </p:txBody>
          </p:sp>
        </p:grpSp>
        <p:sp>
          <p:nvSpPr>
            <p:cNvPr id="219" name="Google Shape;219;p8"/>
            <p:cNvSpPr/>
            <p:nvPr/>
          </p:nvSpPr>
          <p:spPr>
            <a:xfrm>
              <a:off x="17583493" y="2088904"/>
              <a:ext cx="1651922" cy="1709621"/>
            </a:xfrm>
            <a:custGeom>
              <a:rect b="b" l="l" r="r" t="t"/>
              <a:pathLst>
                <a:path extrusionOk="0" h="1709621" w="1651922">
                  <a:moveTo>
                    <a:pt x="0" y="0"/>
                  </a:moveTo>
                  <a:lnTo>
                    <a:pt x="1651922" y="0"/>
                  </a:lnTo>
                  <a:lnTo>
                    <a:pt x="1651922" y="1709621"/>
                  </a:lnTo>
                  <a:lnTo>
                    <a:pt x="0" y="170962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9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</p:grpSp>
      <p:grpSp>
        <p:nvGrpSpPr>
          <p:cNvPr id="220" name="Google Shape;220;p8"/>
          <p:cNvGrpSpPr/>
          <p:nvPr/>
        </p:nvGrpSpPr>
        <p:grpSpPr>
          <a:xfrm>
            <a:off x="773904" y="414270"/>
            <a:ext cx="6624576" cy="1783159"/>
            <a:chOff x="0" y="-114300"/>
            <a:chExt cx="8832768" cy="2377546"/>
          </a:xfrm>
        </p:grpSpPr>
        <p:sp>
          <p:nvSpPr>
            <p:cNvPr id="221" name="Google Shape;221;p8"/>
            <p:cNvSpPr txBox="1"/>
            <p:nvPr/>
          </p:nvSpPr>
          <p:spPr>
            <a:xfrm>
              <a:off x="0" y="1080950"/>
              <a:ext cx="5657840" cy="118229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5308" u="none" cap="none" strike="noStrike">
                  <a:solidFill>
                    <a:srgbClr val="004AAD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SOLUCIÓN</a:t>
              </a:r>
              <a:endParaRPr/>
            </a:p>
          </p:txBody>
        </p:sp>
        <p:sp>
          <p:nvSpPr>
            <p:cNvPr id="222" name="Google Shape;222;p8"/>
            <p:cNvSpPr txBox="1"/>
            <p:nvPr/>
          </p:nvSpPr>
          <p:spPr>
            <a:xfrm>
              <a:off x="0" y="-114300"/>
              <a:ext cx="8832768" cy="11590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5151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ARQUITECTURA DE LA</a:t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9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8" name="Google Shape;228;p9"/>
          <p:cNvSpPr txBox="1"/>
          <p:nvPr/>
        </p:nvSpPr>
        <p:spPr>
          <a:xfrm>
            <a:off x="1028700" y="964425"/>
            <a:ext cx="4998672" cy="912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308" u="none" cap="none" strike="noStrike">
                <a:solidFill>
                  <a:srgbClr val="004AAD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DESARROLLO</a:t>
            </a:r>
            <a:endParaRPr/>
          </a:p>
        </p:txBody>
      </p:sp>
      <p:sp>
        <p:nvSpPr>
          <p:cNvPr id="229" name="Google Shape;229;p9"/>
          <p:cNvSpPr txBox="1"/>
          <p:nvPr/>
        </p:nvSpPr>
        <p:spPr>
          <a:xfrm>
            <a:off x="1446991" y="3317618"/>
            <a:ext cx="3463917" cy="959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1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Etapa 1: </a:t>
            </a:r>
            <a:endParaRPr/>
          </a:p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1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Análisis y definición</a:t>
            </a:r>
            <a:endParaRPr/>
          </a:p>
        </p:txBody>
      </p:sp>
      <p:sp>
        <p:nvSpPr>
          <p:cNvPr id="230" name="Google Shape;230;p9"/>
          <p:cNvSpPr txBox="1"/>
          <p:nvPr/>
        </p:nvSpPr>
        <p:spPr>
          <a:xfrm>
            <a:off x="6853125" y="3317618"/>
            <a:ext cx="4581751" cy="959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1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Etapa 2: </a:t>
            </a:r>
            <a:endParaRPr/>
          </a:p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1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Diseño técnico y prototipo</a:t>
            </a:r>
            <a:endParaRPr/>
          </a:p>
        </p:txBody>
      </p:sp>
      <p:sp>
        <p:nvSpPr>
          <p:cNvPr id="231" name="Google Shape;231;p9"/>
          <p:cNvSpPr txBox="1"/>
          <p:nvPr/>
        </p:nvSpPr>
        <p:spPr>
          <a:xfrm>
            <a:off x="12949455" y="3317618"/>
            <a:ext cx="4309845" cy="959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1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Etapa 3: </a:t>
            </a:r>
            <a:endParaRPr/>
          </a:p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1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Ajustes finales y pruebas</a:t>
            </a:r>
            <a:endParaRPr/>
          </a:p>
        </p:txBody>
      </p:sp>
      <p:grpSp>
        <p:nvGrpSpPr>
          <p:cNvPr id="232" name="Google Shape;232;p9"/>
          <p:cNvGrpSpPr/>
          <p:nvPr/>
        </p:nvGrpSpPr>
        <p:grpSpPr>
          <a:xfrm>
            <a:off x="758400" y="4640426"/>
            <a:ext cx="4841100" cy="6103674"/>
            <a:chOff x="0" y="-47625"/>
            <a:chExt cx="1275022" cy="1607552"/>
          </a:xfrm>
        </p:grpSpPr>
        <p:sp>
          <p:nvSpPr>
            <p:cNvPr id="233" name="Google Shape;233;p9"/>
            <p:cNvSpPr/>
            <p:nvPr/>
          </p:nvSpPr>
          <p:spPr>
            <a:xfrm>
              <a:off x="0" y="0"/>
              <a:ext cx="1275022" cy="1559927"/>
            </a:xfrm>
            <a:custGeom>
              <a:rect b="b" l="l" r="r" t="t"/>
              <a:pathLst>
                <a:path extrusionOk="0" h="1559927" w="1275022">
                  <a:moveTo>
                    <a:pt x="81560" y="0"/>
                  </a:moveTo>
                  <a:lnTo>
                    <a:pt x="1193463" y="0"/>
                  </a:lnTo>
                  <a:cubicBezTo>
                    <a:pt x="1215094" y="0"/>
                    <a:pt x="1235839" y="8593"/>
                    <a:pt x="1251134" y="23888"/>
                  </a:cubicBezTo>
                  <a:cubicBezTo>
                    <a:pt x="1266429" y="39184"/>
                    <a:pt x="1275022" y="59929"/>
                    <a:pt x="1275022" y="81560"/>
                  </a:cubicBezTo>
                  <a:lnTo>
                    <a:pt x="1275022" y="1478368"/>
                  </a:lnTo>
                  <a:cubicBezTo>
                    <a:pt x="1275022" y="1499998"/>
                    <a:pt x="1266429" y="1520743"/>
                    <a:pt x="1251134" y="1536039"/>
                  </a:cubicBezTo>
                  <a:cubicBezTo>
                    <a:pt x="1235839" y="1551334"/>
                    <a:pt x="1215094" y="1559927"/>
                    <a:pt x="1193463" y="1559927"/>
                  </a:cubicBezTo>
                  <a:lnTo>
                    <a:pt x="81560" y="1559927"/>
                  </a:lnTo>
                  <a:cubicBezTo>
                    <a:pt x="59929" y="1559927"/>
                    <a:pt x="39184" y="1551334"/>
                    <a:pt x="23888" y="1536039"/>
                  </a:cubicBezTo>
                  <a:cubicBezTo>
                    <a:pt x="8593" y="1520743"/>
                    <a:pt x="0" y="1499998"/>
                    <a:pt x="0" y="1478368"/>
                  </a:cubicBezTo>
                  <a:lnTo>
                    <a:pt x="0" y="81560"/>
                  </a:lnTo>
                  <a:cubicBezTo>
                    <a:pt x="0" y="59929"/>
                    <a:pt x="8593" y="39184"/>
                    <a:pt x="23888" y="23888"/>
                  </a:cubicBezTo>
                  <a:cubicBezTo>
                    <a:pt x="39184" y="8593"/>
                    <a:pt x="59929" y="0"/>
                    <a:pt x="81560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9"/>
            <p:cNvSpPr txBox="1"/>
            <p:nvPr/>
          </p:nvSpPr>
          <p:spPr>
            <a:xfrm>
              <a:off x="0" y="-47625"/>
              <a:ext cx="1275022" cy="16075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6723450" y="4640426"/>
            <a:ext cx="4841100" cy="6103674"/>
            <a:chOff x="0" y="-47625"/>
            <a:chExt cx="1275022" cy="1607552"/>
          </a:xfrm>
        </p:grpSpPr>
        <p:sp>
          <p:nvSpPr>
            <p:cNvPr id="236" name="Google Shape;236;p9"/>
            <p:cNvSpPr/>
            <p:nvPr/>
          </p:nvSpPr>
          <p:spPr>
            <a:xfrm>
              <a:off x="0" y="0"/>
              <a:ext cx="1275022" cy="1559927"/>
            </a:xfrm>
            <a:custGeom>
              <a:rect b="b" l="l" r="r" t="t"/>
              <a:pathLst>
                <a:path extrusionOk="0" h="1559927" w="1275022">
                  <a:moveTo>
                    <a:pt x="81560" y="0"/>
                  </a:moveTo>
                  <a:lnTo>
                    <a:pt x="1193463" y="0"/>
                  </a:lnTo>
                  <a:cubicBezTo>
                    <a:pt x="1215094" y="0"/>
                    <a:pt x="1235839" y="8593"/>
                    <a:pt x="1251134" y="23888"/>
                  </a:cubicBezTo>
                  <a:cubicBezTo>
                    <a:pt x="1266429" y="39184"/>
                    <a:pt x="1275022" y="59929"/>
                    <a:pt x="1275022" y="81560"/>
                  </a:cubicBezTo>
                  <a:lnTo>
                    <a:pt x="1275022" y="1478368"/>
                  </a:lnTo>
                  <a:cubicBezTo>
                    <a:pt x="1275022" y="1499998"/>
                    <a:pt x="1266429" y="1520743"/>
                    <a:pt x="1251134" y="1536039"/>
                  </a:cubicBezTo>
                  <a:cubicBezTo>
                    <a:pt x="1235839" y="1551334"/>
                    <a:pt x="1215094" y="1559927"/>
                    <a:pt x="1193463" y="1559927"/>
                  </a:cubicBezTo>
                  <a:lnTo>
                    <a:pt x="81560" y="1559927"/>
                  </a:lnTo>
                  <a:cubicBezTo>
                    <a:pt x="59929" y="1559927"/>
                    <a:pt x="39184" y="1551334"/>
                    <a:pt x="23888" y="1536039"/>
                  </a:cubicBezTo>
                  <a:cubicBezTo>
                    <a:pt x="8593" y="1520743"/>
                    <a:pt x="0" y="1499998"/>
                    <a:pt x="0" y="1478368"/>
                  </a:cubicBezTo>
                  <a:lnTo>
                    <a:pt x="0" y="81560"/>
                  </a:lnTo>
                  <a:cubicBezTo>
                    <a:pt x="0" y="59929"/>
                    <a:pt x="8593" y="39184"/>
                    <a:pt x="23888" y="23888"/>
                  </a:cubicBezTo>
                  <a:cubicBezTo>
                    <a:pt x="39184" y="8593"/>
                    <a:pt x="59929" y="0"/>
                    <a:pt x="81560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9"/>
            <p:cNvSpPr txBox="1"/>
            <p:nvPr/>
          </p:nvSpPr>
          <p:spPr>
            <a:xfrm>
              <a:off x="0" y="-47625"/>
              <a:ext cx="1275022" cy="16075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12683827" y="4640426"/>
            <a:ext cx="4841100" cy="6103674"/>
            <a:chOff x="0" y="-47625"/>
            <a:chExt cx="1275022" cy="1607552"/>
          </a:xfrm>
        </p:grpSpPr>
        <p:sp>
          <p:nvSpPr>
            <p:cNvPr id="239" name="Google Shape;239;p9"/>
            <p:cNvSpPr/>
            <p:nvPr/>
          </p:nvSpPr>
          <p:spPr>
            <a:xfrm>
              <a:off x="0" y="0"/>
              <a:ext cx="1275022" cy="1559927"/>
            </a:xfrm>
            <a:custGeom>
              <a:rect b="b" l="l" r="r" t="t"/>
              <a:pathLst>
                <a:path extrusionOk="0" h="1559927" w="1275022">
                  <a:moveTo>
                    <a:pt x="81560" y="0"/>
                  </a:moveTo>
                  <a:lnTo>
                    <a:pt x="1193463" y="0"/>
                  </a:lnTo>
                  <a:cubicBezTo>
                    <a:pt x="1215094" y="0"/>
                    <a:pt x="1235839" y="8593"/>
                    <a:pt x="1251134" y="23888"/>
                  </a:cubicBezTo>
                  <a:cubicBezTo>
                    <a:pt x="1266429" y="39184"/>
                    <a:pt x="1275022" y="59929"/>
                    <a:pt x="1275022" y="81560"/>
                  </a:cubicBezTo>
                  <a:lnTo>
                    <a:pt x="1275022" y="1478368"/>
                  </a:lnTo>
                  <a:cubicBezTo>
                    <a:pt x="1275022" y="1499998"/>
                    <a:pt x="1266429" y="1520743"/>
                    <a:pt x="1251134" y="1536039"/>
                  </a:cubicBezTo>
                  <a:cubicBezTo>
                    <a:pt x="1235839" y="1551334"/>
                    <a:pt x="1215094" y="1559927"/>
                    <a:pt x="1193463" y="1559927"/>
                  </a:cubicBezTo>
                  <a:lnTo>
                    <a:pt x="81560" y="1559927"/>
                  </a:lnTo>
                  <a:cubicBezTo>
                    <a:pt x="59929" y="1559927"/>
                    <a:pt x="39184" y="1551334"/>
                    <a:pt x="23888" y="1536039"/>
                  </a:cubicBezTo>
                  <a:cubicBezTo>
                    <a:pt x="8593" y="1520743"/>
                    <a:pt x="0" y="1499998"/>
                    <a:pt x="0" y="1478368"/>
                  </a:cubicBezTo>
                  <a:lnTo>
                    <a:pt x="0" y="81560"/>
                  </a:lnTo>
                  <a:cubicBezTo>
                    <a:pt x="0" y="59929"/>
                    <a:pt x="8593" y="39184"/>
                    <a:pt x="23888" y="23888"/>
                  </a:cubicBezTo>
                  <a:cubicBezTo>
                    <a:pt x="39184" y="8593"/>
                    <a:pt x="59929" y="0"/>
                    <a:pt x="81560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9"/>
            <p:cNvSpPr txBox="1"/>
            <p:nvPr/>
          </p:nvSpPr>
          <p:spPr>
            <a:xfrm>
              <a:off x="0" y="-47625"/>
              <a:ext cx="1275022" cy="16075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1" name="Google Shape;241;p9"/>
          <p:cNvSpPr txBox="1"/>
          <p:nvPr/>
        </p:nvSpPr>
        <p:spPr>
          <a:xfrm>
            <a:off x="1028700" y="5300752"/>
            <a:ext cx="4285050" cy="2332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5105" lvl="1" marL="410209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Requerimientos</a:t>
            </a:r>
            <a:endParaRPr/>
          </a:p>
          <a:p>
            <a:pPr indent="0" lvl="0" marL="0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99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205105" lvl="1" marL="410209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KPIs</a:t>
            </a:r>
            <a:endParaRPr/>
          </a:p>
          <a:p>
            <a:pPr indent="0" lvl="0" marL="0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99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205105" lvl="1" marL="410209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Backlog</a:t>
            </a:r>
            <a:endParaRPr/>
          </a:p>
          <a:p>
            <a:pPr indent="0" lvl="0" marL="0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99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205105" lvl="1" marL="410209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Riesgos</a:t>
            </a:r>
            <a:endParaRPr/>
          </a:p>
        </p:txBody>
      </p:sp>
      <p:sp>
        <p:nvSpPr>
          <p:cNvPr id="242" name="Google Shape;242;p9"/>
          <p:cNvSpPr txBox="1"/>
          <p:nvPr/>
        </p:nvSpPr>
        <p:spPr>
          <a:xfrm>
            <a:off x="7007412" y="5300752"/>
            <a:ext cx="4268503" cy="2332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5105" lvl="1" marL="410209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Flujos en n8n</a:t>
            </a:r>
            <a:endParaRPr/>
          </a:p>
          <a:p>
            <a:pPr indent="0" lvl="0" marL="0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99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205105" lvl="1" marL="410209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Integración con APIs</a:t>
            </a:r>
            <a:endParaRPr/>
          </a:p>
          <a:p>
            <a:pPr indent="0" lvl="0" marL="0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99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205105" lvl="1" marL="410209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Validaciones de capacidad</a:t>
            </a:r>
            <a:endParaRPr/>
          </a:p>
          <a:p>
            <a:pPr indent="0" lvl="0" marL="0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99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205105" lvl="1" marL="410209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Manejo de respuestas</a:t>
            </a:r>
            <a:endParaRPr/>
          </a:p>
        </p:txBody>
      </p:sp>
      <p:sp>
        <p:nvSpPr>
          <p:cNvPr id="243" name="Google Shape;243;p9"/>
          <p:cNvSpPr txBox="1"/>
          <p:nvPr/>
        </p:nvSpPr>
        <p:spPr>
          <a:xfrm>
            <a:off x="12974250" y="5300752"/>
            <a:ext cx="4285050" cy="2332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5105" lvl="1" marL="410209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Validación técnica</a:t>
            </a:r>
            <a:endParaRPr/>
          </a:p>
          <a:p>
            <a:pPr indent="0" lvl="0" marL="0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99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205105" lvl="1" marL="410209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Pruebas funcionales</a:t>
            </a:r>
            <a:endParaRPr/>
          </a:p>
          <a:p>
            <a:pPr indent="0" lvl="0" marL="0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99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205105" lvl="1" marL="410209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Correcciones</a:t>
            </a:r>
            <a:endParaRPr/>
          </a:p>
          <a:p>
            <a:pPr indent="0" lvl="0" marL="0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99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205105" lvl="1" marL="410209" marR="0" rtl="0" algn="ctr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Preparación para el uso real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0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9" name="Google Shape;249;p10"/>
          <p:cNvSpPr txBox="1"/>
          <p:nvPr/>
        </p:nvSpPr>
        <p:spPr>
          <a:xfrm>
            <a:off x="1028700" y="964425"/>
            <a:ext cx="4998672" cy="912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308" u="none" cap="none" strike="noStrike">
                <a:solidFill>
                  <a:srgbClr val="004AAD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KPI</a:t>
            </a:r>
            <a:endParaRPr/>
          </a:p>
        </p:txBody>
      </p:sp>
      <p:sp>
        <p:nvSpPr>
          <p:cNvPr id="250" name="Google Shape;250;p10"/>
          <p:cNvSpPr txBox="1"/>
          <p:nvPr/>
        </p:nvSpPr>
        <p:spPr>
          <a:xfrm>
            <a:off x="1225396" y="3094847"/>
            <a:ext cx="3891658" cy="959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1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KPI 1:</a:t>
            </a:r>
            <a:endParaRPr/>
          </a:p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1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Respuestas Correctas</a:t>
            </a:r>
            <a:endParaRPr/>
          </a:p>
        </p:txBody>
      </p:sp>
      <p:sp>
        <p:nvSpPr>
          <p:cNvPr id="251" name="Google Shape;251;p10"/>
          <p:cNvSpPr txBox="1"/>
          <p:nvPr/>
        </p:nvSpPr>
        <p:spPr>
          <a:xfrm>
            <a:off x="6853125" y="3079493"/>
            <a:ext cx="4581751" cy="14360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1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KPI 2: </a:t>
            </a:r>
            <a:endParaRPr/>
          </a:p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1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Horas reservadas automaticamente</a:t>
            </a:r>
            <a:endParaRPr/>
          </a:p>
        </p:txBody>
      </p:sp>
      <p:sp>
        <p:nvSpPr>
          <p:cNvPr id="252" name="Google Shape;252;p10"/>
          <p:cNvSpPr txBox="1"/>
          <p:nvPr/>
        </p:nvSpPr>
        <p:spPr>
          <a:xfrm>
            <a:off x="12949455" y="3094847"/>
            <a:ext cx="4309845" cy="959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1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KPI 3: </a:t>
            </a:r>
            <a:endParaRPr/>
          </a:p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1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Satisfacción del cliente</a:t>
            </a:r>
            <a:endParaRPr/>
          </a:p>
        </p:txBody>
      </p:sp>
      <p:grpSp>
        <p:nvGrpSpPr>
          <p:cNvPr id="253" name="Google Shape;253;p10"/>
          <p:cNvGrpSpPr/>
          <p:nvPr/>
        </p:nvGrpSpPr>
        <p:grpSpPr>
          <a:xfrm>
            <a:off x="758400" y="4640426"/>
            <a:ext cx="4841100" cy="6103674"/>
            <a:chOff x="0" y="-47625"/>
            <a:chExt cx="1275022" cy="1607552"/>
          </a:xfrm>
        </p:grpSpPr>
        <p:sp>
          <p:nvSpPr>
            <p:cNvPr id="254" name="Google Shape;254;p10"/>
            <p:cNvSpPr/>
            <p:nvPr/>
          </p:nvSpPr>
          <p:spPr>
            <a:xfrm>
              <a:off x="0" y="0"/>
              <a:ext cx="1275022" cy="1559927"/>
            </a:xfrm>
            <a:custGeom>
              <a:rect b="b" l="l" r="r" t="t"/>
              <a:pathLst>
                <a:path extrusionOk="0" h="1559927" w="1275022">
                  <a:moveTo>
                    <a:pt x="81560" y="0"/>
                  </a:moveTo>
                  <a:lnTo>
                    <a:pt x="1193463" y="0"/>
                  </a:lnTo>
                  <a:cubicBezTo>
                    <a:pt x="1215094" y="0"/>
                    <a:pt x="1235839" y="8593"/>
                    <a:pt x="1251134" y="23888"/>
                  </a:cubicBezTo>
                  <a:cubicBezTo>
                    <a:pt x="1266429" y="39184"/>
                    <a:pt x="1275022" y="59929"/>
                    <a:pt x="1275022" y="81560"/>
                  </a:cubicBezTo>
                  <a:lnTo>
                    <a:pt x="1275022" y="1478368"/>
                  </a:lnTo>
                  <a:cubicBezTo>
                    <a:pt x="1275022" y="1499998"/>
                    <a:pt x="1266429" y="1520743"/>
                    <a:pt x="1251134" y="1536039"/>
                  </a:cubicBezTo>
                  <a:cubicBezTo>
                    <a:pt x="1235839" y="1551334"/>
                    <a:pt x="1215094" y="1559927"/>
                    <a:pt x="1193463" y="1559927"/>
                  </a:cubicBezTo>
                  <a:lnTo>
                    <a:pt x="81560" y="1559927"/>
                  </a:lnTo>
                  <a:cubicBezTo>
                    <a:pt x="59929" y="1559927"/>
                    <a:pt x="39184" y="1551334"/>
                    <a:pt x="23888" y="1536039"/>
                  </a:cubicBezTo>
                  <a:cubicBezTo>
                    <a:pt x="8593" y="1520743"/>
                    <a:pt x="0" y="1499998"/>
                    <a:pt x="0" y="1478368"/>
                  </a:cubicBezTo>
                  <a:lnTo>
                    <a:pt x="0" y="81560"/>
                  </a:lnTo>
                  <a:cubicBezTo>
                    <a:pt x="0" y="59929"/>
                    <a:pt x="8593" y="39184"/>
                    <a:pt x="23888" y="23888"/>
                  </a:cubicBezTo>
                  <a:cubicBezTo>
                    <a:pt x="39184" y="8593"/>
                    <a:pt x="59929" y="0"/>
                    <a:pt x="81560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10"/>
            <p:cNvSpPr txBox="1"/>
            <p:nvPr/>
          </p:nvSpPr>
          <p:spPr>
            <a:xfrm>
              <a:off x="0" y="-47625"/>
              <a:ext cx="1275022" cy="16075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6" name="Google Shape;256;p10"/>
          <p:cNvGrpSpPr/>
          <p:nvPr/>
        </p:nvGrpSpPr>
        <p:grpSpPr>
          <a:xfrm>
            <a:off x="6723450" y="4640426"/>
            <a:ext cx="4841100" cy="6103674"/>
            <a:chOff x="0" y="-47625"/>
            <a:chExt cx="1275022" cy="1607552"/>
          </a:xfrm>
        </p:grpSpPr>
        <p:sp>
          <p:nvSpPr>
            <p:cNvPr id="257" name="Google Shape;257;p10"/>
            <p:cNvSpPr/>
            <p:nvPr/>
          </p:nvSpPr>
          <p:spPr>
            <a:xfrm>
              <a:off x="0" y="0"/>
              <a:ext cx="1275022" cy="1559927"/>
            </a:xfrm>
            <a:custGeom>
              <a:rect b="b" l="l" r="r" t="t"/>
              <a:pathLst>
                <a:path extrusionOk="0" h="1559927" w="1275022">
                  <a:moveTo>
                    <a:pt x="81560" y="0"/>
                  </a:moveTo>
                  <a:lnTo>
                    <a:pt x="1193463" y="0"/>
                  </a:lnTo>
                  <a:cubicBezTo>
                    <a:pt x="1215094" y="0"/>
                    <a:pt x="1235839" y="8593"/>
                    <a:pt x="1251134" y="23888"/>
                  </a:cubicBezTo>
                  <a:cubicBezTo>
                    <a:pt x="1266429" y="39184"/>
                    <a:pt x="1275022" y="59929"/>
                    <a:pt x="1275022" y="81560"/>
                  </a:cubicBezTo>
                  <a:lnTo>
                    <a:pt x="1275022" y="1478368"/>
                  </a:lnTo>
                  <a:cubicBezTo>
                    <a:pt x="1275022" y="1499998"/>
                    <a:pt x="1266429" y="1520743"/>
                    <a:pt x="1251134" y="1536039"/>
                  </a:cubicBezTo>
                  <a:cubicBezTo>
                    <a:pt x="1235839" y="1551334"/>
                    <a:pt x="1215094" y="1559927"/>
                    <a:pt x="1193463" y="1559927"/>
                  </a:cubicBezTo>
                  <a:lnTo>
                    <a:pt x="81560" y="1559927"/>
                  </a:lnTo>
                  <a:cubicBezTo>
                    <a:pt x="59929" y="1559927"/>
                    <a:pt x="39184" y="1551334"/>
                    <a:pt x="23888" y="1536039"/>
                  </a:cubicBezTo>
                  <a:cubicBezTo>
                    <a:pt x="8593" y="1520743"/>
                    <a:pt x="0" y="1499998"/>
                    <a:pt x="0" y="1478368"/>
                  </a:cubicBezTo>
                  <a:lnTo>
                    <a:pt x="0" y="81560"/>
                  </a:lnTo>
                  <a:cubicBezTo>
                    <a:pt x="0" y="59929"/>
                    <a:pt x="8593" y="39184"/>
                    <a:pt x="23888" y="23888"/>
                  </a:cubicBezTo>
                  <a:cubicBezTo>
                    <a:pt x="39184" y="8593"/>
                    <a:pt x="59929" y="0"/>
                    <a:pt x="81560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0"/>
            <p:cNvSpPr txBox="1"/>
            <p:nvPr/>
          </p:nvSpPr>
          <p:spPr>
            <a:xfrm>
              <a:off x="0" y="-47625"/>
              <a:ext cx="1275022" cy="16075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9" name="Google Shape;259;p10"/>
          <p:cNvGrpSpPr/>
          <p:nvPr/>
        </p:nvGrpSpPr>
        <p:grpSpPr>
          <a:xfrm>
            <a:off x="12683827" y="4640426"/>
            <a:ext cx="4841100" cy="6103674"/>
            <a:chOff x="0" y="-47625"/>
            <a:chExt cx="1275022" cy="1607552"/>
          </a:xfrm>
        </p:grpSpPr>
        <p:sp>
          <p:nvSpPr>
            <p:cNvPr id="260" name="Google Shape;260;p10"/>
            <p:cNvSpPr/>
            <p:nvPr/>
          </p:nvSpPr>
          <p:spPr>
            <a:xfrm>
              <a:off x="0" y="0"/>
              <a:ext cx="1275022" cy="1559927"/>
            </a:xfrm>
            <a:custGeom>
              <a:rect b="b" l="l" r="r" t="t"/>
              <a:pathLst>
                <a:path extrusionOk="0" h="1559927" w="1275022">
                  <a:moveTo>
                    <a:pt x="81560" y="0"/>
                  </a:moveTo>
                  <a:lnTo>
                    <a:pt x="1193463" y="0"/>
                  </a:lnTo>
                  <a:cubicBezTo>
                    <a:pt x="1215094" y="0"/>
                    <a:pt x="1235839" y="8593"/>
                    <a:pt x="1251134" y="23888"/>
                  </a:cubicBezTo>
                  <a:cubicBezTo>
                    <a:pt x="1266429" y="39184"/>
                    <a:pt x="1275022" y="59929"/>
                    <a:pt x="1275022" y="81560"/>
                  </a:cubicBezTo>
                  <a:lnTo>
                    <a:pt x="1275022" y="1478368"/>
                  </a:lnTo>
                  <a:cubicBezTo>
                    <a:pt x="1275022" y="1499998"/>
                    <a:pt x="1266429" y="1520743"/>
                    <a:pt x="1251134" y="1536039"/>
                  </a:cubicBezTo>
                  <a:cubicBezTo>
                    <a:pt x="1235839" y="1551334"/>
                    <a:pt x="1215094" y="1559927"/>
                    <a:pt x="1193463" y="1559927"/>
                  </a:cubicBezTo>
                  <a:lnTo>
                    <a:pt x="81560" y="1559927"/>
                  </a:lnTo>
                  <a:cubicBezTo>
                    <a:pt x="59929" y="1559927"/>
                    <a:pt x="39184" y="1551334"/>
                    <a:pt x="23888" y="1536039"/>
                  </a:cubicBezTo>
                  <a:cubicBezTo>
                    <a:pt x="8593" y="1520743"/>
                    <a:pt x="0" y="1499998"/>
                    <a:pt x="0" y="1478368"/>
                  </a:cubicBezTo>
                  <a:lnTo>
                    <a:pt x="0" y="81560"/>
                  </a:lnTo>
                  <a:cubicBezTo>
                    <a:pt x="0" y="59929"/>
                    <a:pt x="8593" y="39184"/>
                    <a:pt x="23888" y="23888"/>
                  </a:cubicBezTo>
                  <a:cubicBezTo>
                    <a:pt x="39184" y="8593"/>
                    <a:pt x="59929" y="0"/>
                    <a:pt x="81560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10"/>
            <p:cNvSpPr txBox="1"/>
            <p:nvPr/>
          </p:nvSpPr>
          <p:spPr>
            <a:xfrm>
              <a:off x="0" y="-47625"/>
              <a:ext cx="1275022" cy="16075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2" name="Google Shape;262;p10"/>
          <p:cNvSpPr txBox="1"/>
          <p:nvPr/>
        </p:nvSpPr>
        <p:spPr>
          <a:xfrm>
            <a:off x="1028700" y="5300752"/>
            <a:ext cx="4285050" cy="3773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94310" lvl="1" marL="38862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Mide calidad  y utilidad de las respuestas generadas.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194310" lvl="1" marL="38862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Se registran automaticamente los mensajes del bot.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194310" lvl="1" marL="38862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Se definen criteros de evaluación claros.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194310" lvl="1" marL="38862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Se calcula semanalmente.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(Respuestas útiles / Respuestas totales) x 100</a:t>
            </a:r>
            <a:endParaRPr/>
          </a:p>
        </p:txBody>
      </p:sp>
      <p:sp>
        <p:nvSpPr>
          <p:cNvPr id="263" name="Google Shape;263;p10"/>
          <p:cNvSpPr txBox="1"/>
          <p:nvPr/>
        </p:nvSpPr>
        <p:spPr>
          <a:xfrm>
            <a:off x="7009748" y="5300752"/>
            <a:ext cx="4268503" cy="4716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94310" lvl="1" marL="38862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Mide la eficiencia del sistema en convertir solicitudes en reservas sin intervención humana.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194310" lvl="1" marL="38862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Las reservas se registran automaticamente en el flujo n8n.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194310" lvl="1" marL="38862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Se registran horas manualmente en otro plantilla.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194310" lvl="1" marL="38862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Se calcua semanalmente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(Reservas automatizadas / reservas totales) x 100</a:t>
            </a:r>
            <a:endParaRPr/>
          </a:p>
        </p:txBody>
      </p:sp>
      <p:sp>
        <p:nvSpPr>
          <p:cNvPr id="264" name="Google Shape;264;p10"/>
          <p:cNvSpPr txBox="1"/>
          <p:nvPr/>
        </p:nvSpPr>
        <p:spPr>
          <a:xfrm>
            <a:off x="12974250" y="5300752"/>
            <a:ext cx="4285050" cy="44024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94310" lvl="1" marL="38862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Mide la percepción del usuario sobre la atención automatizada.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194310" lvl="1" marL="38862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Al final de la interacción el bot entrega un encuesta para calificar la atención de 1 al 10.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194310" lvl="1" marL="38862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Fijamos la meta en la calificación 8.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194310" lvl="1" marL="38862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Si el promedio baja de 8, hay que hacer ajustes a la forma en la que se maneja el bot.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1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70" name="Google Shape;270;p11"/>
          <p:cNvGrpSpPr/>
          <p:nvPr/>
        </p:nvGrpSpPr>
        <p:grpSpPr>
          <a:xfrm>
            <a:off x="1028700" y="8817125"/>
            <a:ext cx="2514600" cy="441175"/>
            <a:chOff x="0" y="-47625"/>
            <a:chExt cx="662281" cy="116195"/>
          </a:xfrm>
        </p:grpSpPr>
        <p:sp>
          <p:nvSpPr>
            <p:cNvPr id="271" name="Google Shape;271;p11"/>
            <p:cNvSpPr/>
            <p:nvPr/>
          </p:nvSpPr>
          <p:spPr>
            <a:xfrm>
              <a:off x="0" y="0"/>
              <a:ext cx="662281" cy="68570"/>
            </a:xfrm>
            <a:custGeom>
              <a:rect b="b" l="l" r="r" t="t"/>
              <a:pathLst>
                <a:path extrusionOk="0"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</p:sp>
        <p:sp>
          <p:nvSpPr>
            <p:cNvPr id="272" name="Google Shape;272;p11"/>
            <p:cNvSpPr txBox="1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11"/>
          <p:cNvGrpSpPr/>
          <p:nvPr/>
        </p:nvGrpSpPr>
        <p:grpSpPr>
          <a:xfrm>
            <a:off x="1661177" y="1919165"/>
            <a:ext cx="14965646" cy="6815635"/>
            <a:chOff x="0" y="-47625"/>
            <a:chExt cx="3941569" cy="1795064"/>
          </a:xfrm>
        </p:grpSpPr>
        <p:sp>
          <p:nvSpPr>
            <p:cNvPr id="274" name="Google Shape;274;p11"/>
            <p:cNvSpPr/>
            <p:nvPr/>
          </p:nvSpPr>
          <p:spPr>
            <a:xfrm>
              <a:off x="0" y="0"/>
              <a:ext cx="3941569" cy="1747439"/>
            </a:xfrm>
            <a:custGeom>
              <a:rect b="b" l="l" r="r" t="t"/>
              <a:pathLst>
                <a:path extrusionOk="0" h="1747439" w="3941569">
                  <a:moveTo>
                    <a:pt x="26383" y="0"/>
                  </a:moveTo>
                  <a:lnTo>
                    <a:pt x="3915187" y="0"/>
                  </a:lnTo>
                  <a:cubicBezTo>
                    <a:pt x="3922184" y="0"/>
                    <a:pt x="3928894" y="2780"/>
                    <a:pt x="3933842" y="7727"/>
                  </a:cubicBezTo>
                  <a:cubicBezTo>
                    <a:pt x="3938790" y="12675"/>
                    <a:pt x="3941569" y="19386"/>
                    <a:pt x="3941569" y="26383"/>
                  </a:cubicBezTo>
                  <a:lnTo>
                    <a:pt x="3941569" y="1721057"/>
                  </a:lnTo>
                  <a:cubicBezTo>
                    <a:pt x="3941569" y="1728054"/>
                    <a:pt x="3938790" y="1734764"/>
                    <a:pt x="3933842" y="1739712"/>
                  </a:cubicBezTo>
                  <a:cubicBezTo>
                    <a:pt x="3928894" y="1744660"/>
                    <a:pt x="3922184" y="1747439"/>
                    <a:pt x="3915187" y="1747439"/>
                  </a:cubicBezTo>
                  <a:lnTo>
                    <a:pt x="26383" y="1747439"/>
                  </a:lnTo>
                  <a:cubicBezTo>
                    <a:pt x="19386" y="1747439"/>
                    <a:pt x="12675" y="1744660"/>
                    <a:pt x="7727" y="1739712"/>
                  </a:cubicBezTo>
                  <a:cubicBezTo>
                    <a:pt x="2780" y="1734764"/>
                    <a:pt x="0" y="1728054"/>
                    <a:pt x="0" y="1721057"/>
                  </a:cubicBezTo>
                  <a:lnTo>
                    <a:pt x="0" y="26383"/>
                  </a:lnTo>
                  <a:cubicBezTo>
                    <a:pt x="0" y="19386"/>
                    <a:pt x="2780" y="12675"/>
                    <a:pt x="7727" y="7727"/>
                  </a:cubicBezTo>
                  <a:cubicBezTo>
                    <a:pt x="12675" y="2780"/>
                    <a:pt x="19386" y="0"/>
                    <a:pt x="26383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11"/>
            <p:cNvSpPr txBox="1"/>
            <p:nvPr/>
          </p:nvSpPr>
          <p:spPr>
            <a:xfrm>
              <a:off x="0" y="-47625"/>
              <a:ext cx="3941569" cy="17950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6" name="Google Shape;276;p11"/>
          <p:cNvSpPr txBox="1"/>
          <p:nvPr/>
        </p:nvSpPr>
        <p:spPr>
          <a:xfrm>
            <a:off x="1028700" y="923925"/>
            <a:ext cx="5119519" cy="912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308" u="none" cap="none" strike="noStrike">
                <a:solidFill>
                  <a:srgbClr val="004AAD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CONCLUSIÓN</a:t>
            </a:r>
            <a:endParaRPr/>
          </a:p>
        </p:txBody>
      </p:sp>
      <p:sp>
        <p:nvSpPr>
          <p:cNvPr id="277" name="Google Shape;277;p11"/>
          <p:cNvSpPr txBox="1"/>
          <p:nvPr/>
        </p:nvSpPr>
        <p:spPr>
          <a:xfrm>
            <a:off x="2508502" y="3573860"/>
            <a:ext cx="13270996" cy="38463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15446" lvl="1" marL="430892" marR="0" rtl="0" algn="ctr">
              <a:lnSpc>
                <a:spcPct val="140050"/>
              </a:lnSpc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995"/>
              <a:buFont typeface="Arial"/>
              <a:buChar char="•"/>
            </a:pPr>
            <a:r>
              <a:rPr b="0" i="0" lang="en-US" sz="1995" u="none" cap="none" strike="noStrike">
                <a:solidFill>
                  <a:srgbClr val="F3F3F3"/>
                </a:solidFill>
                <a:latin typeface="Archivo Black"/>
                <a:ea typeface="Archivo Black"/>
                <a:cs typeface="Archivo Black"/>
                <a:sym typeface="Archivo Black"/>
              </a:rPr>
              <a:t>Automatizamos un proceso crítico del gimnasio, reduciendo tiempos de respuesta y carga operativa.</a:t>
            </a:r>
            <a:endParaRPr/>
          </a:p>
          <a:p>
            <a:pPr indent="0" lvl="0" marL="0" marR="0" rtl="0" algn="ctr">
              <a:lnSpc>
                <a:spcPct val="140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95" u="none" cap="none" strike="noStrike">
              <a:solidFill>
                <a:srgbClr val="F3F3F3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215446" lvl="1" marL="430892" marR="0" rtl="0" algn="ctr">
              <a:lnSpc>
                <a:spcPct val="140050"/>
              </a:lnSpc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995"/>
              <a:buFont typeface="Arial"/>
              <a:buChar char="•"/>
            </a:pPr>
            <a:r>
              <a:rPr b="0" i="0" lang="en-US" sz="1995" u="none" cap="none" strike="noStrike">
                <a:solidFill>
                  <a:srgbClr val="F3F3F3"/>
                </a:solidFill>
                <a:latin typeface="Archivo Black"/>
                <a:ea typeface="Archivo Black"/>
                <a:cs typeface="Archivo Black"/>
                <a:sym typeface="Archivo Black"/>
              </a:rPr>
              <a:t>Integramos IA, n8n y WhatsApp para construir una solución escalable y alineada con las necesidades reales del cliente.</a:t>
            </a:r>
            <a:endParaRPr/>
          </a:p>
          <a:p>
            <a:pPr indent="0" lvl="0" marL="0" marR="0" rtl="0" algn="ctr">
              <a:lnSpc>
                <a:spcPct val="140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95" u="none" cap="none" strike="noStrike">
              <a:solidFill>
                <a:srgbClr val="F3F3F3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215446" lvl="1" marL="430892" marR="0" rtl="0" algn="ctr">
              <a:lnSpc>
                <a:spcPct val="140050"/>
              </a:lnSpc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995"/>
              <a:buFont typeface="Arial"/>
              <a:buChar char="•"/>
            </a:pPr>
            <a:r>
              <a:rPr b="0" i="0" lang="en-US" sz="1995" u="none" cap="none" strike="noStrike">
                <a:solidFill>
                  <a:srgbClr val="F3F3F3"/>
                </a:solidFill>
                <a:latin typeface="Archivo Black"/>
                <a:ea typeface="Archivo Black"/>
                <a:cs typeface="Archivo Black"/>
                <a:sym typeface="Archivo Black"/>
              </a:rPr>
              <a:t>El proyecto fortaleció nuestras competencias profesionales en análisis, diseño técnico e integración de sistemas.</a:t>
            </a:r>
            <a:endParaRPr/>
          </a:p>
          <a:p>
            <a:pPr indent="0" lvl="0" marL="0" marR="0" rtl="0" algn="ctr">
              <a:lnSpc>
                <a:spcPct val="140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95" u="none" cap="none" strike="noStrike">
              <a:solidFill>
                <a:srgbClr val="F3F3F3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-215446" lvl="1" marL="430892" marR="0" rtl="0" algn="ctr">
              <a:lnSpc>
                <a:spcPct val="140050"/>
              </a:lnSpc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995"/>
              <a:buFont typeface="Arial"/>
              <a:buChar char="•"/>
            </a:pPr>
            <a:r>
              <a:rPr b="0" i="0" lang="en-US" sz="1995" u="none" cap="none" strike="noStrike">
                <a:solidFill>
                  <a:srgbClr val="F3F3F3"/>
                </a:solidFill>
                <a:latin typeface="Archivo Black"/>
                <a:ea typeface="Archivo Black"/>
                <a:cs typeface="Archivo Black"/>
                <a:sym typeface="Archivo Black"/>
              </a:rPr>
              <a:t>La solución deja una base sólida para futuras mejoras y nuevas automatizaciones.</a:t>
            </a:r>
            <a:endParaRPr/>
          </a:p>
          <a:p>
            <a:pPr indent="0" lvl="0" marL="0" marR="0" rtl="0" algn="ctr">
              <a:lnSpc>
                <a:spcPct val="133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95" u="none" cap="none" strike="noStrike">
              <a:solidFill>
                <a:srgbClr val="F3F3F3"/>
              </a:solidFill>
              <a:latin typeface="Archivo Black"/>
              <a:ea typeface="Archivo Black"/>
              <a:cs typeface="Archivo Black"/>
              <a:sym typeface="Archivo Blac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2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9257" l="0" r="0" t="-9258"/>
            </a:stretch>
          </a:blipFill>
          <a:ln>
            <a:noFill/>
          </a:ln>
        </p:spPr>
      </p:sp>
      <p:grpSp>
        <p:nvGrpSpPr>
          <p:cNvPr id="283" name="Google Shape;283;p12"/>
          <p:cNvGrpSpPr/>
          <p:nvPr/>
        </p:nvGrpSpPr>
        <p:grpSpPr>
          <a:xfrm>
            <a:off x="-698500" y="2943374"/>
            <a:ext cx="5245100" cy="1513604"/>
            <a:chOff x="0" y="-47625"/>
            <a:chExt cx="1381426" cy="398645"/>
          </a:xfrm>
        </p:grpSpPr>
        <p:sp>
          <p:nvSpPr>
            <p:cNvPr id="284" name="Google Shape;284;p12"/>
            <p:cNvSpPr/>
            <p:nvPr/>
          </p:nvSpPr>
          <p:spPr>
            <a:xfrm>
              <a:off x="0" y="0"/>
              <a:ext cx="1381426" cy="351020"/>
            </a:xfrm>
            <a:custGeom>
              <a:rect b="b" l="l" r="r" t="t"/>
              <a:pathLst>
                <a:path extrusionOk="0" h="351020" w="1381426">
                  <a:moveTo>
                    <a:pt x="75277" y="0"/>
                  </a:moveTo>
                  <a:lnTo>
                    <a:pt x="1306148" y="0"/>
                  </a:lnTo>
                  <a:cubicBezTo>
                    <a:pt x="1326113" y="0"/>
                    <a:pt x="1345260" y="7931"/>
                    <a:pt x="1359377" y="22048"/>
                  </a:cubicBezTo>
                  <a:cubicBezTo>
                    <a:pt x="1373495" y="36166"/>
                    <a:pt x="1381426" y="55313"/>
                    <a:pt x="1381426" y="75277"/>
                  </a:cubicBezTo>
                  <a:lnTo>
                    <a:pt x="1381426" y="275742"/>
                  </a:lnTo>
                  <a:cubicBezTo>
                    <a:pt x="1381426" y="295707"/>
                    <a:pt x="1373495" y="314854"/>
                    <a:pt x="1359377" y="328971"/>
                  </a:cubicBezTo>
                  <a:cubicBezTo>
                    <a:pt x="1345260" y="343089"/>
                    <a:pt x="1326113" y="351020"/>
                    <a:pt x="1306148" y="351020"/>
                  </a:cubicBezTo>
                  <a:lnTo>
                    <a:pt x="75277" y="351020"/>
                  </a:lnTo>
                  <a:cubicBezTo>
                    <a:pt x="55313" y="351020"/>
                    <a:pt x="36166" y="343089"/>
                    <a:pt x="22048" y="328971"/>
                  </a:cubicBezTo>
                  <a:cubicBezTo>
                    <a:pt x="7931" y="314854"/>
                    <a:pt x="0" y="295707"/>
                    <a:pt x="0" y="275742"/>
                  </a:cubicBezTo>
                  <a:lnTo>
                    <a:pt x="0" y="75277"/>
                  </a:lnTo>
                  <a:cubicBezTo>
                    <a:pt x="0" y="55313"/>
                    <a:pt x="7931" y="36166"/>
                    <a:pt x="22048" y="22048"/>
                  </a:cubicBezTo>
                  <a:cubicBezTo>
                    <a:pt x="36166" y="7931"/>
                    <a:pt x="55313" y="0"/>
                    <a:pt x="75277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12"/>
            <p:cNvSpPr txBox="1"/>
            <p:nvPr/>
          </p:nvSpPr>
          <p:spPr>
            <a:xfrm>
              <a:off x="0" y="-47625"/>
              <a:ext cx="1381426" cy="3986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6" name="Google Shape;286;p12"/>
          <p:cNvGrpSpPr/>
          <p:nvPr/>
        </p:nvGrpSpPr>
        <p:grpSpPr>
          <a:xfrm>
            <a:off x="13741400" y="2943374"/>
            <a:ext cx="5118100" cy="1513604"/>
            <a:chOff x="0" y="-47625"/>
            <a:chExt cx="1347977" cy="398645"/>
          </a:xfrm>
        </p:grpSpPr>
        <p:sp>
          <p:nvSpPr>
            <p:cNvPr id="287" name="Google Shape;287;p12"/>
            <p:cNvSpPr/>
            <p:nvPr/>
          </p:nvSpPr>
          <p:spPr>
            <a:xfrm>
              <a:off x="0" y="0"/>
              <a:ext cx="1347977" cy="351020"/>
            </a:xfrm>
            <a:custGeom>
              <a:rect b="b" l="l" r="r" t="t"/>
              <a:pathLst>
                <a:path extrusionOk="0" h="351020" w="1347977">
                  <a:moveTo>
                    <a:pt x="77145" y="0"/>
                  </a:moveTo>
                  <a:lnTo>
                    <a:pt x="1270832" y="0"/>
                  </a:lnTo>
                  <a:cubicBezTo>
                    <a:pt x="1291292" y="0"/>
                    <a:pt x="1310914" y="8128"/>
                    <a:pt x="1325382" y="22595"/>
                  </a:cubicBezTo>
                  <a:cubicBezTo>
                    <a:pt x="1339849" y="37063"/>
                    <a:pt x="1347977" y="56685"/>
                    <a:pt x="1347977" y="77145"/>
                  </a:cubicBezTo>
                  <a:lnTo>
                    <a:pt x="1347977" y="273874"/>
                  </a:lnTo>
                  <a:cubicBezTo>
                    <a:pt x="1347977" y="316480"/>
                    <a:pt x="1313438" y="351020"/>
                    <a:pt x="1270832" y="351020"/>
                  </a:cubicBezTo>
                  <a:lnTo>
                    <a:pt x="77145" y="351020"/>
                  </a:lnTo>
                  <a:cubicBezTo>
                    <a:pt x="34539" y="351020"/>
                    <a:pt x="0" y="316480"/>
                    <a:pt x="0" y="273874"/>
                  </a:cubicBezTo>
                  <a:lnTo>
                    <a:pt x="0" y="77145"/>
                  </a:lnTo>
                  <a:cubicBezTo>
                    <a:pt x="0" y="34539"/>
                    <a:pt x="34539" y="0"/>
                    <a:pt x="77145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12"/>
            <p:cNvSpPr txBox="1"/>
            <p:nvPr/>
          </p:nvSpPr>
          <p:spPr>
            <a:xfrm>
              <a:off x="0" y="-47625"/>
              <a:ext cx="1347977" cy="3986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9" name="Google Shape;289;p12"/>
          <p:cNvSpPr txBox="1"/>
          <p:nvPr/>
        </p:nvSpPr>
        <p:spPr>
          <a:xfrm>
            <a:off x="4933297" y="3191597"/>
            <a:ext cx="8421405" cy="12653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82" u="none" cap="none" strike="noStrike">
                <a:solidFill>
                  <a:srgbClr val="004AAD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GRACIAS</a:t>
            </a:r>
            <a:endParaRPr/>
          </a:p>
        </p:txBody>
      </p:sp>
      <p:grpSp>
        <p:nvGrpSpPr>
          <p:cNvPr id="290" name="Google Shape;290;p12"/>
          <p:cNvGrpSpPr/>
          <p:nvPr/>
        </p:nvGrpSpPr>
        <p:grpSpPr>
          <a:xfrm>
            <a:off x="7616825" y="6524774"/>
            <a:ext cx="3054350" cy="942104"/>
            <a:chOff x="0" y="-47625"/>
            <a:chExt cx="804438" cy="248126"/>
          </a:xfrm>
        </p:grpSpPr>
        <p:sp>
          <p:nvSpPr>
            <p:cNvPr id="291" name="Google Shape;291;p12"/>
            <p:cNvSpPr/>
            <p:nvPr/>
          </p:nvSpPr>
          <p:spPr>
            <a:xfrm>
              <a:off x="0" y="0"/>
              <a:ext cx="804438" cy="200501"/>
            </a:xfrm>
            <a:custGeom>
              <a:rect b="b" l="l" r="r" t="t"/>
              <a:pathLst>
                <a:path extrusionOk="0" h="200501" w="804438">
                  <a:moveTo>
                    <a:pt x="100251" y="0"/>
                  </a:moveTo>
                  <a:lnTo>
                    <a:pt x="704187" y="0"/>
                  </a:lnTo>
                  <a:cubicBezTo>
                    <a:pt x="730775" y="0"/>
                    <a:pt x="756275" y="10562"/>
                    <a:pt x="775075" y="29363"/>
                  </a:cubicBezTo>
                  <a:cubicBezTo>
                    <a:pt x="793876" y="48163"/>
                    <a:pt x="804438" y="73662"/>
                    <a:pt x="804438" y="100251"/>
                  </a:cubicBezTo>
                  <a:lnTo>
                    <a:pt x="804438" y="100251"/>
                  </a:lnTo>
                  <a:cubicBezTo>
                    <a:pt x="804438" y="155617"/>
                    <a:pt x="759554" y="200501"/>
                    <a:pt x="704187" y="200501"/>
                  </a:cubicBezTo>
                  <a:lnTo>
                    <a:pt x="100251" y="200501"/>
                  </a:lnTo>
                  <a:cubicBezTo>
                    <a:pt x="44884" y="200501"/>
                    <a:pt x="0" y="155617"/>
                    <a:pt x="0" y="100251"/>
                  </a:cubicBezTo>
                  <a:lnTo>
                    <a:pt x="0" y="100251"/>
                  </a:lnTo>
                  <a:cubicBezTo>
                    <a:pt x="0" y="44884"/>
                    <a:pt x="44884" y="0"/>
                    <a:pt x="100251" y="0"/>
                  </a:cubicBezTo>
                  <a:close/>
                </a:path>
              </a:pathLst>
            </a:custGeom>
            <a:solidFill>
              <a:srgbClr val="004AA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12"/>
            <p:cNvSpPr txBox="1"/>
            <p:nvPr/>
          </p:nvSpPr>
          <p:spPr>
            <a:xfrm>
              <a:off x="0" y="-47625"/>
              <a:ext cx="804438" cy="24812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99" u="none" cap="none" strike="noStrike">
                  <a:solidFill>
                    <a:srgbClr val="FFFFFF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Ahora la demo.</a:t>
              </a: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